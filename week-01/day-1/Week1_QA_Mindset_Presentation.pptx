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51540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4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645920"/>
            <a:ext cx="5029200" cy="5029200"/>
          </a:xfrm>
          <a:prstGeom prst="ellipse">
            <a:avLst/>
          </a:prstGeom>
          <a:solidFill>
            <a:srgbClr val="0A4F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332720" y="4206240"/>
            <a:ext cx="2926080" cy="2926080"/>
          </a:xfrm>
          <a:prstGeom prst="ellipse">
            <a:avLst/>
          </a:prstGeom>
          <a:solidFill>
            <a:srgbClr val="E862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150" dirty="0">
                <a:solidFill>
                  <a:srgbClr val="0E6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CODE4IMPACT  ·  QA TRACK  ·  WEEK 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242316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QA Mindset &amp;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31520" y="310896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E86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Fundamentals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731520" y="411480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FE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coding background needed. Just curiosity, and a willingness to break things on purpose.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" y="5120640"/>
            <a:ext cx="502920" cy="502920"/>
          </a:xfrm>
          <a:prstGeom prst="ellipse">
            <a:avLst/>
          </a:prstGeom>
          <a:solidFill>
            <a:srgbClr val="3D5A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900" y="5186020"/>
            <a:ext cx="372161" cy="372161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71600" y="516636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Facilitator: Khumbelo  |  QA/SDET Track Lead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0E6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SESSION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EAF6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1673352"/>
            <a:ext cx="512064" cy="512064"/>
          </a:xfrm>
          <a:prstGeom prst="ellipse">
            <a:avLst/>
          </a:prstGeom>
          <a:solidFill>
            <a:srgbClr val="0E6E6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808" y="1739920"/>
            <a:ext cx="378927" cy="37892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6002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508760" y="194767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Warm-up + why QA matters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9875520" y="1508760"/>
            <a:ext cx="15544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2468880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EAF6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777240" y="2633472"/>
            <a:ext cx="512064" cy="512064"/>
          </a:xfrm>
          <a:prstGeom prst="ellipse">
            <a:avLst/>
          </a:prstGeom>
          <a:solidFill>
            <a:srgbClr val="0E6E6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808" y="2700040"/>
            <a:ext cx="378927" cy="37892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08760" y="25603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Discussion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1508760" y="290779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SDLC, STLC, and the four testing types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9875520" y="2468880"/>
            <a:ext cx="15544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548640" y="3429000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EAF6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777240" y="3593592"/>
            <a:ext cx="512064" cy="512064"/>
          </a:xfrm>
          <a:prstGeom prst="ellipse">
            <a:avLst/>
          </a:prstGeom>
          <a:solidFill>
            <a:srgbClr val="0E6E6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808" y="3660160"/>
            <a:ext cx="378927" cy="37892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508760" y="35204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1508760" y="386791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test a real site live, thinking out loud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9875520" y="3429000"/>
            <a:ext cx="15544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9875520" y="4389120"/>
            <a:ext cx="15544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400" dirty="0"/>
          </a:p>
        </p:txBody>
      </p:sp>
      <p:sp>
        <p:nvSpPr>
          <p:cNvPr id="28" name="Shape 22"/>
          <p:cNvSpPr/>
          <p:nvPr/>
        </p:nvSpPr>
        <p:spPr>
          <a:xfrm>
            <a:off x="548640" y="4406839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EAF6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3"/>
          <p:cNvSpPr/>
          <p:nvPr/>
        </p:nvSpPr>
        <p:spPr>
          <a:xfrm>
            <a:off x="777240" y="4571431"/>
            <a:ext cx="512064" cy="512064"/>
          </a:xfrm>
          <a:prstGeom prst="ellipse">
            <a:avLst/>
          </a:prstGeom>
          <a:solidFill>
            <a:srgbClr val="0E6E6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808" y="4637999"/>
            <a:ext cx="378927" cy="378927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508760" y="4498279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Debrief &amp; Homework</a:t>
            </a:r>
            <a:endParaRPr lang="en-US" sz="1500" dirty="0"/>
          </a:p>
        </p:txBody>
      </p:sp>
      <p:sp>
        <p:nvSpPr>
          <p:cNvPr id="32" name="Text 25"/>
          <p:cNvSpPr/>
          <p:nvPr/>
        </p:nvSpPr>
        <p:spPr>
          <a:xfrm>
            <a:off x="1508760" y="4845751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findings, set up this week's deliverable</a:t>
            </a:r>
            <a:endParaRPr lang="en-US" sz="1250" dirty="0"/>
          </a:p>
        </p:txBody>
      </p:sp>
      <p:sp>
        <p:nvSpPr>
          <p:cNvPr id="33" name="Text 26"/>
          <p:cNvSpPr/>
          <p:nvPr/>
        </p:nvSpPr>
        <p:spPr>
          <a:xfrm>
            <a:off x="9875520" y="4406839"/>
            <a:ext cx="15544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400" dirty="0"/>
          </a:p>
        </p:txBody>
      </p:sp>
      <p:sp>
        <p:nvSpPr>
          <p:cNvPr id="34" name="Text 2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Code4Impact  ·  QA Track  ·  Week 1</a:t>
            </a:r>
            <a:endParaRPr lang="en-US" sz="900" dirty="0"/>
          </a:p>
        </p:txBody>
      </p:sp>
      <p:sp>
        <p:nvSpPr>
          <p:cNvPr id="35" name="Text 28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6E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914400"/>
            <a:ext cx="822960" cy="822960"/>
          </a:xfrm>
          <a:prstGeom prst="ellipse">
            <a:avLst/>
          </a:prstGeom>
          <a:solidFill>
            <a:srgbClr val="0A59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945" y="1021385"/>
            <a:ext cx="608990" cy="6089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19202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FE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Warm-Up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822960" y="2468880"/>
            <a:ext cx="9601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Think of the last time an app or website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frustrated you.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822960" y="384048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FE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button that didn't work. A page that crashed. A payment that failed.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822960" y="4617720"/>
            <a:ext cx="9875520" cy="777240"/>
          </a:xfrm>
          <a:prstGeom prst="roundRect">
            <a:avLst>
              <a:gd name="adj" fmla="val 9412"/>
            </a:avLst>
          </a:prstGeom>
          <a:solidFill>
            <a:srgbClr val="0A59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1097280" y="4617720"/>
            <a:ext cx="9326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one example in the chat →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Code4Impact  ·  QA Track  ·  Week 1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Warm-Up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0E6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CORE CONCEPTS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QA — and why does it exist?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1554480"/>
          </a:xfrm>
          <a:prstGeom prst="roundRect">
            <a:avLst>
              <a:gd name="adj" fmla="val 3529"/>
            </a:avLst>
          </a:prstGeom>
          <a:solidFill>
            <a:srgbClr val="EAF6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1691640"/>
            <a:ext cx="548640" cy="548640"/>
          </a:xfrm>
          <a:prstGeom prst="ellipse">
            <a:avLst/>
          </a:prstGeom>
          <a:solidFill>
            <a:srgbClr val="0E6E6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283" y="1762963"/>
            <a:ext cx="405994" cy="40599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554480"/>
            <a:ext cx="9784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build a money-transfer app. You test it yourself — it works. You ship it.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600200" y="2057400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week later: thousands of users report money leaving their account but never arriving. Support tickets flood in. Trust collapses overnight.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48640" y="3246120"/>
            <a:ext cx="11064240" cy="1463040"/>
          </a:xfrm>
          <a:prstGeom prst="roundRect">
            <a:avLst>
              <a:gd name="adj" fmla="val 3750"/>
            </a:avLst>
          </a:prstGeom>
          <a:solidFill>
            <a:srgbClr val="FDEC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822960" y="3520440"/>
            <a:ext cx="548640" cy="548640"/>
          </a:xfrm>
          <a:prstGeom prst="ellipse">
            <a:avLst/>
          </a:prstGeom>
          <a:solidFill>
            <a:srgbClr val="E8622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4283" y="3591763"/>
            <a:ext cx="405994" cy="40599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00200" y="3429000"/>
            <a:ext cx="9784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1F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gap — between "it works when I tried it" and "it works for everyone, every time" — is exactly the gap QA exists to close.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548640" y="50292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good QA professional wants the product to succeed — but refuses to be satisfied with "it seems fine."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Code4Impact  ·  QA Track  ·  Week 1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QA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2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E86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CORE CONCEPTS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Real Cost of Skipping QA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2468880"/>
          </a:xfrm>
          <a:prstGeom prst="roundRect">
            <a:avLst>
              <a:gd name="adj" fmla="val 2963"/>
            </a:avLst>
          </a:prstGeom>
          <a:solidFill>
            <a:srgbClr val="2740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78308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E86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$440M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914400" y="2697480"/>
            <a:ext cx="4663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FE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by trading firm Knight Capital in 45 minutes due to an uncaught deployment error (2012)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63640" y="1554480"/>
            <a:ext cx="5394960" cy="2468880"/>
          </a:xfrm>
          <a:prstGeom prst="roundRect">
            <a:avLst>
              <a:gd name="adj" fmla="val 2963"/>
            </a:avLst>
          </a:prstGeom>
          <a:solidFill>
            <a:srgbClr val="2740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629400" y="178308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E86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6629400" y="2697480"/>
            <a:ext cx="4663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FE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silently failing payment method can quietly cost a business thousands of sales before anyone notices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429768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0A4F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822960" y="4553712"/>
            <a:ext cx="502920" cy="502920"/>
          </a:xfrm>
          <a:prstGeom prst="ellipse">
            <a:avLst/>
          </a:prstGeom>
          <a:solidFill>
            <a:srgbClr val="0E6E6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340" y="4619092"/>
            <a:ext cx="372161" cy="372161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554480" y="4553712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 are normal. Finding them before your users do is a skill — and it's the skill this course builds.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Code4Impact  ·  QA Track  ·  Week 1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of Skipping QA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0E6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CORE CONCEPTS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QA vs. QC vs. Testing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1234440"/>
          </a:xfrm>
          <a:prstGeom prst="roundRect">
            <a:avLst>
              <a:gd name="adj" fmla="val 4444"/>
            </a:avLst>
          </a:prstGeom>
          <a:solidFill>
            <a:srgbClr val="EAF6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1874520"/>
            <a:ext cx="594360" cy="594360"/>
          </a:xfrm>
          <a:prstGeom prst="ellipse">
            <a:avLst/>
          </a:prstGeom>
          <a:solidFill>
            <a:srgbClr val="0E6E6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227" y="1951787"/>
            <a:ext cx="439826" cy="43982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16916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QA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737360" y="217627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E86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Assurance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4114800" y="1737360"/>
            <a:ext cx="7223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overall discipline aimed at preventing defects and ensuring quality throughout the process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48640" y="2971800"/>
            <a:ext cx="11064240" cy="1234440"/>
          </a:xfrm>
          <a:prstGeom prst="roundRect">
            <a:avLst>
              <a:gd name="adj" fmla="val 4444"/>
            </a:avLst>
          </a:prstGeom>
          <a:solidFill>
            <a:srgbClr val="EAF6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822960" y="3291840"/>
            <a:ext cx="594360" cy="594360"/>
          </a:xfrm>
          <a:prstGeom prst="ellipse">
            <a:avLst/>
          </a:prstGeom>
          <a:solidFill>
            <a:srgbClr val="0E6E6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227" y="3369107"/>
            <a:ext cx="439826" cy="43982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737360" y="31089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QC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1737360" y="359359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E86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Control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4114800" y="3154680"/>
            <a:ext cx="7223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 a finished product against requirements — closer to what most people mean by "testing"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548640" y="4389120"/>
            <a:ext cx="11064240" cy="1234440"/>
          </a:xfrm>
          <a:prstGeom prst="roundRect">
            <a:avLst>
              <a:gd name="adj" fmla="val 4444"/>
            </a:avLst>
          </a:prstGeom>
          <a:solidFill>
            <a:srgbClr val="EAF6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822960" y="4709160"/>
            <a:ext cx="594360" cy="594360"/>
          </a:xfrm>
          <a:prstGeom prst="ellipse">
            <a:avLst/>
          </a:prstGeom>
          <a:solidFill>
            <a:srgbClr val="0E6E6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227" y="4786427"/>
            <a:ext cx="439826" cy="43982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737360" y="45262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</a:t>
            </a:r>
            <a:endParaRPr lang="en-US" sz="2000" dirty="0"/>
          </a:p>
        </p:txBody>
      </p:sp>
      <p:sp>
        <p:nvSpPr>
          <p:cNvPr id="20" name="Text 15"/>
          <p:cNvSpPr/>
          <p:nvPr/>
        </p:nvSpPr>
        <p:spPr>
          <a:xfrm>
            <a:off x="1737360" y="501091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E86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hands-on act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4114800" y="4572000"/>
            <a:ext cx="7223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Executing software to find defects. What you'll be doing most of in this course</a:t>
            </a:r>
            <a:endParaRPr lang="en-US" sz="1350" dirty="0"/>
          </a:p>
        </p:txBody>
      </p:sp>
      <p:sp>
        <p:nvSpPr>
          <p:cNvPr id="22" name="Text 1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Code4Impact  ·  QA Track  ·  Week 1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vs QC vs Testing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0E6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CORE CONCEPTS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Software Development Life Cycle (SDLC)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691640" cy="1051560"/>
          </a:xfrm>
          <a:prstGeom prst="roundRect">
            <a:avLst>
              <a:gd name="adj" fmla="val 5217"/>
            </a:avLst>
          </a:prstGeom>
          <a:solidFill>
            <a:srgbClr val="0E6E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1920240"/>
            <a:ext cx="1600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3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4852" y="2212848"/>
            <a:ext cx="128016" cy="2743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3063240"/>
            <a:ext cx="1691640" cy="1005840"/>
          </a:xfrm>
          <a:prstGeom prst="roundRect">
            <a:avLst>
              <a:gd name="adj" fmla="val 5455"/>
            </a:avLst>
          </a:prstGeom>
          <a:solidFill>
            <a:srgbClr val="EAF6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21792" y="3127248"/>
            <a:ext cx="154533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F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for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F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testability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377440" y="1828800"/>
            <a:ext cx="1691640" cy="1051560"/>
          </a:xfrm>
          <a:prstGeom prst="roundRect">
            <a:avLst>
              <a:gd name="adj" fmla="val 5217"/>
            </a:avLst>
          </a:prstGeom>
          <a:solidFill>
            <a:srgbClr val="0E6E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2423160" y="1920240"/>
            <a:ext cx="1600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3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3652" y="2212848"/>
            <a:ext cx="128016" cy="27432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377440" y="3063240"/>
            <a:ext cx="1691640" cy="1005840"/>
          </a:xfrm>
          <a:prstGeom prst="roundRect">
            <a:avLst>
              <a:gd name="adj" fmla="val 5455"/>
            </a:avLst>
          </a:prstGeom>
          <a:solidFill>
            <a:srgbClr val="EAF6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2450592" y="3127248"/>
            <a:ext cx="154533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F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test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F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206240" y="1828800"/>
            <a:ext cx="1691640" cy="1051560"/>
          </a:xfrm>
          <a:prstGeom prst="roundRect">
            <a:avLst>
              <a:gd name="adj" fmla="val 5217"/>
            </a:avLst>
          </a:prstGeom>
          <a:solidFill>
            <a:srgbClr val="0E6E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4251960" y="1920240"/>
            <a:ext cx="1600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30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2452" y="2212848"/>
            <a:ext cx="128016" cy="27432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4206240" y="3063240"/>
            <a:ext cx="1691640" cy="1005840"/>
          </a:xfrm>
          <a:prstGeom prst="roundRect">
            <a:avLst>
              <a:gd name="adj" fmla="val 5455"/>
            </a:avLst>
          </a:prstGeom>
          <a:solidFill>
            <a:srgbClr val="EAF6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3"/>
          <p:cNvSpPr/>
          <p:nvPr/>
        </p:nvSpPr>
        <p:spPr>
          <a:xfrm>
            <a:off x="4279392" y="3127248"/>
            <a:ext cx="154533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F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test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F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035040" y="1828800"/>
            <a:ext cx="1691640" cy="1051560"/>
          </a:xfrm>
          <a:prstGeom prst="roundRect">
            <a:avLst>
              <a:gd name="adj" fmla="val 5217"/>
            </a:avLst>
          </a:prstGeom>
          <a:solidFill>
            <a:srgbClr val="E862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5"/>
          <p:cNvSpPr/>
          <p:nvPr/>
        </p:nvSpPr>
        <p:spPr>
          <a:xfrm>
            <a:off x="6080760" y="1920240"/>
            <a:ext cx="1600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30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1252" y="2212848"/>
            <a:ext cx="128016" cy="27432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6035040" y="3063240"/>
            <a:ext cx="1691640" cy="1005840"/>
          </a:xfrm>
          <a:prstGeom prst="roundRect">
            <a:avLst>
              <a:gd name="adj" fmla="val 5455"/>
            </a:avLst>
          </a:prstGeom>
          <a:solidFill>
            <a:srgbClr val="EAF6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7"/>
          <p:cNvSpPr/>
          <p:nvPr/>
        </p:nvSpPr>
        <p:spPr>
          <a:xfrm>
            <a:off x="6108192" y="3127248"/>
            <a:ext cx="154533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F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hands-on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F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7863840" y="1828800"/>
            <a:ext cx="1691640" cy="1051560"/>
          </a:xfrm>
          <a:prstGeom prst="roundRect">
            <a:avLst>
              <a:gd name="adj" fmla="val 5217"/>
            </a:avLst>
          </a:prstGeom>
          <a:solidFill>
            <a:srgbClr val="0E6E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19"/>
          <p:cNvSpPr/>
          <p:nvPr/>
        </p:nvSpPr>
        <p:spPr>
          <a:xfrm>
            <a:off x="7909560" y="1920240"/>
            <a:ext cx="1600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300" dirty="0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0052" y="2212848"/>
            <a:ext cx="128016" cy="274320"/>
          </a:xfrm>
          <a:prstGeom prst="rect">
            <a:avLst/>
          </a:prstGeom>
        </p:spPr>
      </p:pic>
      <p:sp>
        <p:nvSpPr>
          <p:cNvPr id="27" name="Shape 20"/>
          <p:cNvSpPr/>
          <p:nvPr/>
        </p:nvSpPr>
        <p:spPr>
          <a:xfrm>
            <a:off x="7863840" y="3063240"/>
            <a:ext cx="1691640" cy="1005840"/>
          </a:xfrm>
          <a:prstGeom prst="roundRect">
            <a:avLst>
              <a:gd name="adj" fmla="val 5455"/>
            </a:avLst>
          </a:prstGeom>
          <a:solidFill>
            <a:srgbClr val="EAF6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1"/>
          <p:cNvSpPr/>
          <p:nvPr/>
        </p:nvSpPr>
        <p:spPr>
          <a:xfrm>
            <a:off x="7936992" y="3127248"/>
            <a:ext cx="154533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F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release,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F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 tests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9692640" y="1828800"/>
            <a:ext cx="1691640" cy="1051560"/>
          </a:xfrm>
          <a:prstGeom prst="roundRect">
            <a:avLst>
              <a:gd name="adj" fmla="val 5217"/>
            </a:avLst>
          </a:prstGeom>
          <a:solidFill>
            <a:srgbClr val="0E6E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3"/>
          <p:cNvSpPr/>
          <p:nvPr/>
        </p:nvSpPr>
        <p:spPr>
          <a:xfrm>
            <a:off x="9738360" y="1920240"/>
            <a:ext cx="1600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</a:t>
            </a:r>
            <a:endParaRPr lang="en-US" sz="1300" dirty="0"/>
          </a:p>
        </p:txBody>
      </p:sp>
      <p:sp>
        <p:nvSpPr>
          <p:cNvPr id="31" name="Shape 24"/>
          <p:cNvSpPr/>
          <p:nvPr/>
        </p:nvSpPr>
        <p:spPr>
          <a:xfrm>
            <a:off x="9692640" y="3063240"/>
            <a:ext cx="1691640" cy="1005840"/>
          </a:xfrm>
          <a:prstGeom prst="roundRect">
            <a:avLst>
              <a:gd name="adj" fmla="val 5455"/>
            </a:avLst>
          </a:prstGeom>
          <a:solidFill>
            <a:srgbClr val="EAF6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5"/>
          <p:cNvSpPr/>
          <p:nvPr/>
        </p:nvSpPr>
        <p:spPr>
          <a:xfrm>
            <a:off x="9765792" y="3127248"/>
            <a:ext cx="154533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F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F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050" dirty="0"/>
          </a:p>
        </p:txBody>
      </p:sp>
      <p:sp>
        <p:nvSpPr>
          <p:cNvPr id="33" name="Text 26"/>
          <p:cNvSpPr/>
          <p:nvPr/>
        </p:nvSpPr>
        <p:spPr>
          <a:xfrm>
            <a:off x="548640" y="144475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QA's role at each phase</a:t>
            </a:r>
            <a:endParaRPr lang="en-US" sz="1200" dirty="0"/>
          </a:p>
        </p:txBody>
      </p:sp>
      <p:sp>
        <p:nvSpPr>
          <p:cNvPr id="34" name="Shape 27"/>
          <p:cNvSpPr/>
          <p:nvPr/>
        </p:nvSpPr>
        <p:spPr>
          <a:xfrm>
            <a:off x="548640" y="448056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FDEC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28"/>
          <p:cNvSpPr/>
          <p:nvPr/>
        </p:nvSpPr>
        <p:spPr>
          <a:xfrm>
            <a:off x="822960" y="4690872"/>
            <a:ext cx="502920" cy="502920"/>
          </a:xfrm>
          <a:prstGeom prst="ellipse">
            <a:avLst/>
          </a:prstGeom>
          <a:solidFill>
            <a:srgbClr val="E8622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8340" y="4756252"/>
            <a:ext cx="372161" cy="372161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1554480" y="4690872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1F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isn't a phase that happens only at the end — the best QA is involved from Requirements onward.</a:t>
            </a:r>
            <a:endParaRPr lang="en-US" sz="1400" dirty="0"/>
          </a:p>
        </p:txBody>
      </p:sp>
      <p:sp>
        <p:nvSpPr>
          <p:cNvPr id="38" name="Text 3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Code4Impact  ·  QA Track  ·  Week 1</a:t>
            </a:r>
            <a:endParaRPr lang="en-US" sz="900" dirty="0"/>
          </a:p>
        </p:txBody>
      </p:sp>
      <p:sp>
        <p:nvSpPr>
          <p:cNvPr id="39" name="Text 31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SDLC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0E6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CORE CONCEPTS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Software Testing Life Cycle (STLC)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QA's own mini life cycle, repeated every time there's something new to test.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2606040" cy="274320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2E8E7"/>
            </a:solidFill>
            <a:prstDash val="solid"/>
          </a:ln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531620" y="2194560"/>
            <a:ext cx="640080" cy="640080"/>
          </a:xfrm>
          <a:prstGeom prst="ellipse">
            <a:avLst/>
          </a:prstGeom>
          <a:solidFill>
            <a:srgbClr val="0E6E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531620" y="2194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85800" y="301752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Planning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3566160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scope, approach, resources, timeline</a:t>
            </a:r>
            <a:endParaRPr lang="en-US" sz="115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9252" y="3200400"/>
            <a:ext cx="128016" cy="27432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3291840" y="1920240"/>
            <a:ext cx="2606040" cy="274320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2E8E7"/>
            </a:solidFill>
            <a:prstDash val="solid"/>
          </a:ln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274820" y="2194560"/>
            <a:ext cx="640080" cy="640080"/>
          </a:xfrm>
          <a:prstGeom prst="ellipse">
            <a:avLst/>
          </a:prstGeom>
          <a:solidFill>
            <a:srgbClr val="0E6E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274820" y="2194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3429000" y="301752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Design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3474720" y="3566160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actual test cases, based on requirements</a:t>
            </a:r>
            <a:endParaRPr lang="en-US" sz="115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2452" y="3200400"/>
            <a:ext cx="128016" cy="27432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6035040" y="1920240"/>
            <a:ext cx="2606040" cy="274320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2E8E7"/>
            </a:solidFill>
            <a:prstDash val="solid"/>
          </a:ln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7018020" y="2194560"/>
            <a:ext cx="640080" cy="640080"/>
          </a:xfrm>
          <a:prstGeom prst="ellipse">
            <a:avLst/>
          </a:prstGeom>
          <a:solidFill>
            <a:srgbClr val="0E6E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7018020" y="2194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20" name="Text 16"/>
          <p:cNvSpPr/>
          <p:nvPr/>
        </p:nvSpPr>
        <p:spPr>
          <a:xfrm>
            <a:off x="6172200" y="301752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Execution</a:t>
            </a:r>
            <a:endParaRPr lang="en-US" sz="1500" dirty="0"/>
          </a:p>
        </p:txBody>
      </p:sp>
      <p:sp>
        <p:nvSpPr>
          <p:cNvPr id="21" name="Text 17"/>
          <p:cNvSpPr/>
          <p:nvPr/>
        </p:nvSpPr>
        <p:spPr>
          <a:xfrm>
            <a:off x="6217920" y="3566160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test cases, log results, report bugs</a:t>
            </a:r>
            <a:endParaRPr lang="en-US" sz="1150" dirty="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5652" y="3200400"/>
            <a:ext cx="128016" cy="274320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8778240" y="1920240"/>
            <a:ext cx="2606040" cy="274320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2E8E7"/>
            </a:solidFill>
            <a:prstDash val="solid"/>
          </a:ln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9761220" y="2194560"/>
            <a:ext cx="640080" cy="640080"/>
          </a:xfrm>
          <a:prstGeom prst="ellipse">
            <a:avLst/>
          </a:prstGeom>
          <a:solidFill>
            <a:srgbClr val="0E6E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0"/>
          <p:cNvSpPr/>
          <p:nvPr/>
        </p:nvSpPr>
        <p:spPr>
          <a:xfrm>
            <a:off x="9761220" y="2194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26" name="Text 21"/>
          <p:cNvSpPr/>
          <p:nvPr/>
        </p:nvSpPr>
        <p:spPr>
          <a:xfrm>
            <a:off x="8915400" y="301752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Closure</a:t>
            </a:r>
            <a:endParaRPr lang="en-US" sz="1500" dirty="0"/>
          </a:p>
        </p:txBody>
      </p:sp>
      <p:sp>
        <p:nvSpPr>
          <p:cNvPr id="27" name="Text 22"/>
          <p:cNvSpPr/>
          <p:nvPr/>
        </p:nvSpPr>
        <p:spPr>
          <a:xfrm>
            <a:off x="8961120" y="3566160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 findings; is the product ready?</a:t>
            </a:r>
            <a:endParaRPr lang="en-US" sz="1150" dirty="0"/>
          </a:p>
        </p:txBody>
      </p:sp>
      <p:sp>
        <p:nvSpPr>
          <p:cNvPr id="28" name="Text 23"/>
          <p:cNvSpPr/>
          <p:nvPr/>
        </p:nvSpPr>
        <p:spPr>
          <a:xfrm>
            <a:off x="548640" y="48920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You'll repeat this rhythm almost every week — Week 2 is Test Design, Weeks 2–9 are heavy Execution, Week 10 is full Closure.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Code4Impact  ·  QA Track  ·  Week 1</a:t>
            </a:r>
            <a:endParaRPr lang="en-US" sz="900" dirty="0"/>
          </a:p>
        </p:txBody>
      </p:sp>
      <p:sp>
        <p:nvSpPr>
          <p:cNvPr id="30" name="Text 25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STLC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0E6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CORE CONCEPTS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Types of Testing You Need This Week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06040" cy="3383280"/>
          </a:xfrm>
          <a:prstGeom prst="roundRect">
            <a:avLst>
              <a:gd name="adj" fmla="val 2807"/>
            </a:avLst>
          </a:prstGeom>
          <a:solidFill>
            <a:srgbClr val="EAF6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559052" y="1874520"/>
            <a:ext cx="585216" cy="585216"/>
          </a:xfrm>
          <a:prstGeom prst="ellipse">
            <a:avLst/>
          </a:prstGeom>
          <a:solidFill>
            <a:srgbClr val="0E6E6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5130" y="1950598"/>
            <a:ext cx="433060" cy="4330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65176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31520" y="3108960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a specific feature do what it's supposed to?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31520" y="4206240"/>
            <a:ext cx="2240280" cy="18288"/>
          </a:xfrm>
          <a:prstGeom prst="rect">
            <a:avLst/>
          </a:prstGeom>
          <a:solidFill>
            <a:srgbClr val="D8E4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31520" y="429768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1F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"Send Money" transfer funds?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291840" y="1600200"/>
            <a:ext cx="2606040" cy="3383280"/>
          </a:xfrm>
          <a:prstGeom prst="roundRect">
            <a:avLst>
              <a:gd name="adj" fmla="val 2807"/>
            </a:avLst>
          </a:prstGeom>
          <a:solidFill>
            <a:srgbClr val="FDEC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302252" y="1874520"/>
            <a:ext cx="585216" cy="585216"/>
          </a:xfrm>
          <a:prstGeom prst="ellipse">
            <a:avLst/>
          </a:prstGeom>
          <a:solidFill>
            <a:srgbClr val="E8622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8330" y="1950598"/>
            <a:ext cx="433060" cy="4330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429000" y="265176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474720" y="3108960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a new change break something that used to work?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3474720" y="4206240"/>
            <a:ext cx="2240280" cy="18288"/>
          </a:xfrm>
          <a:prstGeom prst="rect">
            <a:avLst/>
          </a:prstGeom>
          <a:solidFill>
            <a:srgbClr val="D8E4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3474720" y="429768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1F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signup still work after a login fix?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6035040" y="1600200"/>
            <a:ext cx="2606040" cy="3383280"/>
          </a:xfrm>
          <a:prstGeom prst="roundRect">
            <a:avLst>
              <a:gd name="adj" fmla="val 2807"/>
            </a:avLst>
          </a:prstGeom>
          <a:solidFill>
            <a:srgbClr val="EAF6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7045452" y="1874520"/>
            <a:ext cx="585216" cy="585216"/>
          </a:xfrm>
          <a:prstGeom prst="ellipse">
            <a:avLst/>
          </a:prstGeom>
          <a:solidFill>
            <a:srgbClr val="0E6E6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21530" y="1950598"/>
            <a:ext cx="433060" cy="43306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172200" y="265176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6217920" y="3108960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Unscripted investigation using curiosity &amp; instinct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6217920" y="4206240"/>
            <a:ext cx="2240280" cy="18288"/>
          </a:xfrm>
          <a:prstGeom prst="rect">
            <a:avLst/>
          </a:prstGeom>
          <a:solidFill>
            <a:srgbClr val="D8E4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19"/>
          <p:cNvSpPr/>
          <p:nvPr/>
        </p:nvSpPr>
        <p:spPr>
          <a:xfrm>
            <a:off x="6217920" y="429768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1F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Poking around with no test script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8778240" y="1600200"/>
            <a:ext cx="2606040" cy="3383280"/>
          </a:xfrm>
          <a:prstGeom prst="roundRect">
            <a:avLst>
              <a:gd name="adj" fmla="val 2807"/>
            </a:avLst>
          </a:prstGeom>
          <a:solidFill>
            <a:srgbClr val="FDEC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1"/>
          <p:cNvSpPr/>
          <p:nvPr/>
        </p:nvSpPr>
        <p:spPr>
          <a:xfrm>
            <a:off x="9788652" y="1874520"/>
            <a:ext cx="585216" cy="585216"/>
          </a:xfrm>
          <a:prstGeom prst="ellipse">
            <a:avLst/>
          </a:prstGeom>
          <a:solidFill>
            <a:srgbClr val="E8622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64730" y="1950598"/>
            <a:ext cx="433060" cy="43306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8915400" y="265176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</a:t>
            </a:r>
            <a:endParaRPr lang="en-US" sz="1600" dirty="0"/>
          </a:p>
        </p:txBody>
      </p:sp>
      <p:sp>
        <p:nvSpPr>
          <p:cNvPr id="29" name="Text 23"/>
          <p:cNvSpPr/>
          <p:nvPr/>
        </p:nvSpPr>
        <p:spPr>
          <a:xfrm>
            <a:off x="8961120" y="3108960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it meet the real needs of real users?</a:t>
            </a:r>
            <a:endParaRPr lang="en-US" sz="1150" dirty="0"/>
          </a:p>
        </p:txBody>
      </p:sp>
      <p:sp>
        <p:nvSpPr>
          <p:cNvPr id="30" name="Shape 24"/>
          <p:cNvSpPr/>
          <p:nvPr/>
        </p:nvSpPr>
        <p:spPr>
          <a:xfrm>
            <a:off x="8961120" y="4206240"/>
            <a:ext cx="2240280" cy="18288"/>
          </a:xfrm>
          <a:prstGeom prst="rect">
            <a:avLst/>
          </a:prstGeom>
          <a:solidFill>
            <a:srgbClr val="D8E4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5"/>
          <p:cNvSpPr/>
          <p:nvPr/>
        </p:nvSpPr>
        <p:spPr>
          <a:xfrm>
            <a:off x="8961120" y="429768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1F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customers trying a new banking app</a:t>
            </a:r>
            <a:endParaRPr lang="en-US" sz="1050" dirty="0"/>
          </a:p>
        </p:txBody>
      </p:sp>
      <p:sp>
        <p:nvSpPr>
          <p:cNvPr id="32" name="Text 26"/>
          <p:cNvSpPr/>
          <p:nvPr/>
        </p:nvSpPr>
        <p:spPr>
          <a:xfrm>
            <a:off x="548640" y="521208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 is exploratory testing specifically — building instinct before Week 2's structured test cases.</a:t>
            </a:r>
            <a:endParaRPr lang="en-US" sz="1250" dirty="0"/>
          </a:p>
        </p:txBody>
      </p:sp>
      <p:sp>
        <p:nvSpPr>
          <p:cNvPr id="33" name="Text 2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Code4Impact  ·  QA Track  ·  Week 1</a:t>
            </a:r>
            <a:endParaRPr lang="en-US" sz="900" dirty="0"/>
          </a:p>
        </p:txBody>
      </p:sp>
      <p:sp>
        <p:nvSpPr>
          <p:cNvPr id="34" name="Text 28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Types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862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914400"/>
            <a:ext cx="822960" cy="822960"/>
          </a:xfrm>
          <a:prstGeom prst="ellipse">
            <a:avLst/>
          </a:prstGeom>
          <a:solidFill>
            <a:srgbClr val="C24E1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945" y="1021385"/>
            <a:ext cx="608990" cy="6089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19202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B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822960" y="2468880"/>
            <a:ext cx="100584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you only had time to test ONE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thing before a banking app launched,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would you test — and why?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822960" y="44348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FB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There's no single right answer — this is about how you think about risk.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Code4Impact  ·  QA Track  ·  Week 1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0E6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LIVE DEMO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Watch Me Break This Site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I'll explore a live demo site with no script — just curiosity — and narrate my thinking the whole time.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457200" cy="457200"/>
          </a:xfrm>
          <a:prstGeom prst="ellipse">
            <a:avLst/>
          </a:prstGeom>
          <a:solidFill>
            <a:srgbClr val="0E6E6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" y="1933956"/>
            <a:ext cx="338328" cy="3383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182880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a form completely empty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263640" y="1874520"/>
            <a:ext cx="457200" cy="457200"/>
          </a:xfrm>
          <a:prstGeom prst="ellipse">
            <a:avLst/>
          </a:prstGeom>
          <a:solidFill>
            <a:srgbClr val="E8622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3076" y="1933956"/>
            <a:ext cx="338328" cy="33832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58000" y="182880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obviously wrong data types (letters in a number field)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548640" y="2926080"/>
            <a:ext cx="457200" cy="457200"/>
          </a:xfrm>
          <a:prstGeom prst="ellipse">
            <a:avLst/>
          </a:prstGeom>
          <a:solidFill>
            <a:srgbClr val="0E6E6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" y="2985516"/>
            <a:ext cx="338328" cy="33832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43000" y="288036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extremely long text in a text field</a:t>
            </a:r>
            <a:endParaRPr lang="en-US" sz="1350" dirty="0"/>
          </a:p>
        </p:txBody>
      </p:sp>
      <p:sp>
        <p:nvSpPr>
          <p:cNvPr id="14" name="Shape 9"/>
          <p:cNvSpPr/>
          <p:nvPr/>
        </p:nvSpPr>
        <p:spPr>
          <a:xfrm>
            <a:off x="6263640" y="2926080"/>
            <a:ext cx="457200" cy="457200"/>
          </a:xfrm>
          <a:prstGeom prst="ellipse">
            <a:avLst/>
          </a:prstGeom>
          <a:solidFill>
            <a:srgbClr val="E8622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3076" y="2985516"/>
            <a:ext cx="338328" cy="33832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858000" y="288036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 button twice quickly (double-submit)</a:t>
            </a:r>
            <a:endParaRPr lang="en-US" sz="1350" dirty="0"/>
          </a:p>
        </p:txBody>
      </p:sp>
      <p:sp>
        <p:nvSpPr>
          <p:cNvPr id="17" name="Shape 11"/>
          <p:cNvSpPr/>
          <p:nvPr/>
        </p:nvSpPr>
        <p:spPr>
          <a:xfrm>
            <a:off x="548640" y="3977640"/>
            <a:ext cx="457200" cy="457200"/>
          </a:xfrm>
          <a:prstGeom prst="ellipse">
            <a:avLst/>
          </a:prstGeom>
          <a:solidFill>
            <a:srgbClr val="0E6E6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" y="4037076"/>
            <a:ext cx="338328" cy="33832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143000" y="393192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browser back button after submitting</a:t>
            </a:r>
            <a:endParaRPr lang="en-US" sz="1350" dirty="0"/>
          </a:p>
        </p:txBody>
      </p:sp>
      <p:sp>
        <p:nvSpPr>
          <p:cNvPr id="20" name="Shape 13"/>
          <p:cNvSpPr/>
          <p:nvPr/>
        </p:nvSpPr>
        <p:spPr>
          <a:xfrm>
            <a:off x="6263640" y="3977640"/>
            <a:ext cx="457200" cy="457200"/>
          </a:xfrm>
          <a:prstGeom prst="ellipse">
            <a:avLst/>
          </a:prstGeom>
          <a:solidFill>
            <a:srgbClr val="E8622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3076" y="4037076"/>
            <a:ext cx="338328" cy="338328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6858000" y="393192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 the browser window narrower</a:t>
            </a:r>
            <a:endParaRPr lang="en-US" sz="1350" dirty="0"/>
          </a:p>
        </p:txBody>
      </p:sp>
      <p:sp>
        <p:nvSpPr>
          <p:cNvPr id="23" name="Shape 15"/>
          <p:cNvSpPr/>
          <p:nvPr/>
        </p:nvSpPr>
        <p:spPr>
          <a:xfrm>
            <a:off x="548640" y="5257800"/>
            <a:ext cx="10881360" cy="822960"/>
          </a:xfrm>
          <a:prstGeom prst="roundRect">
            <a:avLst>
              <a:gd name="adj" fmla="val 8889"/>
            </a:avLst>
          </a:prstGeom>
          <a:solidFill>
            <a:srgbClr val="1F2E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16"/>
          <p:cNvSpPr/>
          <p:nvPr/>
        </p:nvSpPr>
        <p:spPr>
          <a:xfrm>
            <a:off x="822960" y="525780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thinking process is the lesson — not just the bugs I find.</a:t>
            </a:r>
            <a:endParaRPr lang="en-US" sz="1400" dirty="0"/>
          </a:p>
        </p:txBody>
      </p:sp>
      <p:sp>
        <p:nvSpPr>
          <p:cNvPr id="25" name="Text 1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Code4Impact  ·  QA Track  ·  Week 1</a:t>
            </a:r>
            <a:endParaRPr lang="en-US" sz="900" dirty="0"/>
          </a:p>
        </p:txBody>
      </p:sp>
      <p:sp>
        <p:nvSpPr>
          <p:cNvPr id="26" name="Text 18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6E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BFE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Homework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Turn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0881360" cy="4023360"/>
          </a:xfrm>
          <a:prstGeom prst="roundRect">
            <a:avLst>
              <a:gd name="adj" fmla="val 1818"/>
            </a:avLst>
          </a:prstGeom>
          <a:solidFill>
            <a:srgbClr val="0A59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14400" y="1874520"/>
            <a:ext cx="594360" cy="594360"/>
          </a:xfrm>
          <a:prstGeom prst="ellipse">
            <a:avLst/>
          </a:prstGeom>
          <a:solidFill>
            <a:srgbClr val="0E6E6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667" y="1951787"/>
            <a:ext cx="439826" cy="43982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1920240"/>
            <a:ext cx="9052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on 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assigned site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914400" y="2697480"/>
            <a:ext cx="365760" cy="365760"/>
          </a:xfrm>
          <a:prstGeom prst="ellipse">
            <a:avLst/>
          </a:prstGeom>
          <a:solidFill>
            <a:srgbClr val="126E6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949" y="2745029"/>
            <a:ext cx="270662" cy="27066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63040" y="265176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3F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test script — just curiosity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914400" y="3319272"/>
            <a:ext cx="365760" cy="365760"/>
          </a:xfrm>
          <a:prstGeom prst="ellipse">
            <a:avLst/>
          </a:prstGeom>
          <a:solidFill>
            <a:srgbClr val="126E6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949" y="3366821"/>
            <a:ext cx="270662" cy="27066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63040" y="3273552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3F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at least 2 things that don't behave as expected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914400" y="3941064"/>
            <a:ext cx="365760" cy="365760"/>
          </a:xfrm>
          <a:prstGeom prst="ellipse">
            <a:avLst/>
          </a:prstGeom>
          <a:solidFill>
            <a:srgbClr val="126E6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949" y="3988613"/>
            <a:ext cx="270662" cy="27066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463040" y="3895344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3F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each: write what you did, what you expected, what actually happened</a:t>
            </a:r>
            <a:endParaRPr lang="en-US" sz="1400" dirty="0"/>
          </a:p>
        </p:txBody>
      </p:sp>
      <p:sp>
        <p:nvSpPr>
          <p:cNvPr id="17" name="Shape 11"/>
          <p:cNvSpPr/>
          <p:nvPr/>
        </p:nvSpPr>
        <p:spPr>
          <a:xfrm>
            <a:off x="914400" y="4562856"/>
            <a:ext cx="365760" cy="365760"/>
          </a:xfrm>
          <a:prstGeom prst="ellipse">
            <a:avLst/>
          </a:prstGeom>
          <a:solidFill>
            <a:srgbClr val="126E6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949" y="4610405"/>
            <a:ext cx="270662" cy="27066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463040" y="4517136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3F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language is fine — no formal bug report format needed yet</a:t>
            </a:r>
            <a:endParaRPr lang="en-US" sz="1400" dirty="0"/>
          </a:p>
        </p:txBody>
      </p:sp>
      <p:sp>
        <p:nvSpPr>
          <p:cNvPr id="20" name="Shape 13"/>
          <p:cNvSpPr/>
          <p:nvPr/>
        </p:nvSpPr>
        <p:spPr>
          <a:xfrm>
            <a:off x="914400" y="5074920"/>
            <a:ext cx="9966960" cy="18288"/>
          </a:xfrm>
          <a:prstGeom prst="rect">
            <a:avLst/>
          </a:prstGeom>
          <a:solidFill>
            <a:srgbClr val="1A7A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4"/>
          <p:cNvSpPr/>
          <p:nvPr/>
        </p:nvSpPr>
        <p:spPr>
          <a:xfrm>
            <a:off x="914400" y="5212080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BFE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Template: What I did  ·  What I expected  ·  What actually happened</a:t>
            </a:r>
            <a:endParaRPr lang="en-US" sz="1250" dirty="0"/>
          </a:p>
        </p:txBody>
      </p:sp>
      <p:sp>
        <p:nvSpPr>
          <p:cNvPr id="22" name="Text 1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Code4Impact  ·  QA Track  ·  Week 1</a:t>
            </a:r>
            <a:endParaRPr lang="en-US" sz="900" dirty="0"/>
          </a:p>
        </p:txBody>
      </p:sp>
      <p:sp>
        <p:nvSpPr>
          <p:cNvPr id="23" name="Text 16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Lab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0E6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Homework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371358" y="64008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Debrief — Share Your Top Finding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640080" cy="640080"/>
          </a:xfrm>
          <a:prstGeom prst="ellipse">
            <a:avLst/>
          </a:prstGeom>
          <a:solidFill>
            <a:srgbClr val="0E6E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17320" y="17830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you do?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2606040"/>
            <a:ext cx="640080" cy="640080"/>
          </a:xfrm>
          <a:prstGeom prst="ellipse">
            <a:avLst/>
          </a:prstGeom>
          <a:solidFill>
            <a:srgbClr val="0E6E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2606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417320" y="26517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you expect?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3474720"/>
            <a:ext cx="640080" cy="640080"/>
          </a:xfrm>
          <a:prstGeom prst="ellipse">
            <a:avLst/>
          </a:prstGeom>
          <a:solidFill>
            <a:srgbClr val="0E6E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3474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417320" y="35204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actually happened?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48640" y="4343400"/>
            <a:ext cx="640080" cy="640080"/>
          </a:xfrm>
          <a:prstGeom prst="ellipse">
            <a:avLst/>
          </a:prstGeom>
          <a:solidFill>
            <a:srgbClr val="0E6E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" y="43434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417320" y="43891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testing type does this map to?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48640" y="525780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FDEC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22960" y="5440680"/>
            <a:ext cx="502920" cy="502920"/>
          </a:xfrm>
          <a:prstGeom prst="ellipse">
            <a:avLst/>
          </a:prstGeom>
          <a:solidFill>
            <a:srgbClr val="E8622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340" y="5506060"/>
            <a:ext cx="372161" cy="372161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554480" y="544068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F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finding is hard to classify, that's a sign it's worth discussing — not a sign you got it wrong.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Code4Impact  ·  QA Track  ·  Week 1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Debrief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0E6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Homework 2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0881360" cy="1737360"/>
          </a:xfrm>
          <a:prstGeom prst="roundRect">
            <a:avLst>
              <a:gd name="adj" fmla="val 2286"/>
            </a:avLst>
          </a:prstGeom>
          <a:solidFill>
            <a:srgbClr val="EAF6F5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914400" y="1783080"/>
            <a:ext cx="594360" cy="594360"/>
          </a:xfrm>
          <a:prstGeom prst="ellipse">
            <a:avLst/>
          </a:prstGeom>
          <a:solidFill>
            <a:srgbClr val="0E6E6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667" y="1860347"/>
            <a:ext cx="439826" cy="43982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1828800"/>
            <a:ext cx="9052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/>
              <a:t>Send Homework1 and Homework 2 as a word document to 'rodneymudau15@gmail.com.'  with subject: Name + Week1 Code4Impact QA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914400" y="2606040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949" y="2653589"/>
            <a:ext cx="270662" cy="27066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63040" y="256032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paragraph: what you tested, what you found, and which testing type it maps to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914400" y="3227832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9"/>
          <p:cNvSpPr/>
          <p:nvPr/>
        </p:nvSpPr>
        <p:spPr>
          <a:xfrm>
            <a:off x="914400" y="3849624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0"/>
          <p:cNvSpPr/>
          <p:nvPr/>
        </p:nvSpPr>
        <p:spPr>
          <a:xfrm>
            <a:off x="1463040" y="3803904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50" dirty="0"/>
          </a:p>
        </p:txBody>
      </p:sp>
      <p:sp>
        <p:nvSpPr>
          <p:cNvPr id="17" name="Text 11"/>
          <p:cNvSpPr/>
          <p:nvPr/>
        </p:nvSpPr>
        <p:spPr>
          <a:xfrm>
            <a:off x="548640" y="4892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before next live session</a:t>
            </a:r>
            <a:endParaRPr lang="en-US" sz="1250" dirty="0"/>
          </a:p>
        </p:txBody>
      </p:sp>
      <p:sp>
        <p:nvSpPr>
          <p:cNvPr id="18" name="Text 1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Code4Impact  ·  QA Track  ·  Week 1</a:t>
            </a:r>
            <a:endParaRPr lang="en-US" sz="900" dirty="0"/>
          </a:p>
        </p:txBody>
      </p:sp>
      <p:sp>
        <p:nvSpPr>
          <p:cNvPr id="19" name="Text 13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F2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840480"/>
            <a:ext cx="4572000" cy="4572000"/>
          </a:xfrm>
          <a:prstGeom prst="ellipse">
            <a:avLst/>
          </a:prstGeom>
          <a:solidFill>
            <a:srgbClr val="0A4F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731520" cy="731520"/>
          </a:xfrm>
          <a:prstGeom prst="ellipse">
            <a:avLst/>
          </a:prstGeom>
          <a:solidFill>
            <a:srgbClr val="E8622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618" y="1100938"/>
            <a:ext cx="541325" cy="54132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196596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 You Next Week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731520" y="288036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FE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moves from unscripted exploration to structured testing: writing your first formal test cases and bug reports. Today's instinct becomes next week's discipline.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31520" y="41148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FC7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Drop them in the chat.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1520" y="6035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C7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Code4Impact · Powered by Afree Connect NPC · www.afreeconnect.co.za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1120</Words>
  <Application>Microsoft Office PowerPoint</Application>
  <PresentationFormat>Widescreen</PresentationFormat>
  <Paragraphs>181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1 — The QA Mindset &amp; Testing Fundamentals</dc:title>
  <dc:subject>PptxGenJS Presentation</dc:subject>
  <dc:creator>Khumbelo</dc:creator>
  <cp:lastModifiedBy>Khumbelo Mudau</cp:lastModifiedBy>
  <cp:revision>4</cp:revision>
  <dcterms:created xsi:type="dcterms:W3CDTF">2026-07-12T16:48:46Z</dcterms:created>
  <dcterms:modified xsi:type="dcterms:W3CDTF">2026-07-14T21:25:43Z</dcterms:modified>
</cp:coreProperties>
</file>