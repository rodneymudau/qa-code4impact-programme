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59C5F7-B12C-4265-8B0B-87174F635E98}" v="6" dt="2026-08-24T18:01:07.6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3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umbelo Mudau" userId="c943d205e6a111f9" providerId="LiveId" clId="{6D91ECA9-F054-46C0-8906-A8CD7F449C9B}"/>
    <pc:docChg chg="undo custSel modSld">
      <pc:chgData name="Khumbelo Mudau" userId="c943d205e6a111f9" providerId="LiveId" clId="{6D91ECA9-F054-46C0-8906-A8CD7F449C9B}" dt="2026-08-24T18:14:11.329" v="17" actId="1076"/>
      <pc:docMkLst>
        <pc:docMk/>
      </pc:docMkLst>
      <pc:sldChg chg="modSp mod">
        <pc:chgData name="Khumbelo Mudau" userId="c943d205e6a111f9" providerId="LiveId" clId="{6D91ECA9-F054-46C0-8906-A8CD7F449C9B}" dt="2026-08-24T17:30:00.981" v="1" actId="1076"/>
        <pc:sldMkLst>
          <pc:docMk/>
          <pc:sldMk cId="0" sldId="257"/>
        </pc:sldMkLst>
        <pc:spChg chg="mod">
          <ac:chgData name="Khumbelo Mudau" userId="c943d205e6a111f9" providerId="LiveId" clId="{6D91ECA9-F054-46C0-8906-A8CD7F449C9B}" dt="2026-08-24T17:30:00.981" v="1" actId="1076"/>
          <ac:spMkLst>
            <pc:docMk/>
            <pc:sldMk cId="0" sldId="257"/>
            <ac:spMk id="5" creationId="{00000000-0000-0000-0000-000000000000}"/>
          </ac:spMkLst>
        </pc:spChg>
      </pc:sldChg>
      <pc:sldChg chg="modSp mod">
        <pc:chgData name="Khumbelo Mudau" userId="c943d205e6a111f9" providerId="LiveId" clId="{6D91ECA9-F054-46C0-8906-A8CD7F449C9B}" dt="2026-08-24T17:35:08.163" v="3" actId="1076"/>
        <pc:sldMkLst>
          <pc:docMk/>
          <pc:sldMk cId="0" sldId="258"/>
        </pc:sldMkLst>
        <pc:spChg chg="mod">
          <ac:chgData name="Khumbelo Mudau" userId="c943d205e6a111f9" providerId="LiveId" clId="{6D91ECA9-F054-46C0-8906-A8CD7F449C9B}" dt="2026-08-24T17:35:08.163" v="3" actId="1076"/>
          <ac:spMkLst>
            <pc:docMk/>
            <pc:sldMk cId="0" sldId="258"/>
            <ac:spMk id="5" creationId="{00000000-0000-0000-0000-000000000000}"/>
          </ac:spMkLst>
        </pc:spChg>
      </pc:sldChg>
      <pc:sldChg chg="modSp mod">
        <pc:chgData name="Khumbelo Mudau" userId="c943d205e6a111f9" providerId="LiveId" clId="{6D91ECA9-F054-46C0-8906-A8CD7F449C9B}" dt="2026-08-24T17:52:31.284" v="7" actId="1076"/>
        <pc:sldMkLst>
          <pc:docMk/>
          <pc:sldMk cId="0" sldId="261"/>
        </pc:sldMkLst>
        <pc:spChg chg="mod">
          <ac:chgData name="Khumbelo Mudau" userId="c943d205e6a111f9" providerId="LiveId" clId="{6D91ECA9-F054-46C0-8906-A8CD7F449C9B}" dt="2026-08-24T17:52:31.284" v="7" actId="1076"/>
          <ac:spMkLst>
            <pc:docMk/>
            <pc:sldMk cId="0" sldId="261"/>
            <ac:spMk id="5" creationId="{00000000-0000-0000-0000-000000000000}"/>
          </ac:spMkLst>
        </pc:spChg>
        <pc:spChg chg="mod">
          <ac:chgData name="Khumbelo Mudau" userId="c943d205e6a111f9" providerId="LiveId" clId="{6D91ECA9-F054-46C0-8906-A8CD7F449C9B}" dt="2026-08-24T17:50:51.679" v="4" actId="1076"/>
          <ac:spMkLst>
            <pc:docMk/>
            <pc:sldMk cId="0" sldId="261"/>
            <ac:spMk id="8" creationId="{00000000-0000-0000-0000-000000000000}"/>
          </ac:spMkLst>
        </pc:spChg>
      </pc:sldChg>
      <pc:sldChg chg="modSp mod">
        <pc:chgData name="Khumbelo Mudau" userId="c943d205e6a111f9" providerId="LiveId" clId="{6D91ECA9-F054-46C0-8906-A8CD7F449C9B}" dt="2026-08-24T17:59:06.495" v="14" actId="1076"/>
        <pc:sldMkLst>
          <pc:docMk/>
          <pc:sldMk cId="0" sldId="262"/>
        </pc:sldMkLst>
        <pc:spChg chg="mod">
          <ac:chgData name="Khumbelo Mudau" userId="c943d205e6a111f9" providerId="LiveId" clId="{6D91ECA9-F054-46C0-8906-A8CD7F449C9B}" dt="2026-08-24T17:59:06.495" v="14" actId="1076"/>
          <ac:spMkLst>
            <pc:docMk/>
            <pc:sldMk cId="0" sldId="262"/>
            <ac:spMk id="5" creationId="{00000000-0000-0000-0000-000000000000}"/>
          </ac:spMkLst>
        </pc:spChg>
        <pc:spChg chg="mod">
          <ac:chgData name="Khumbelo Mudau" userId="c943d205e6a111f9" providerId="LiveId" clId="{6D91ECA9-F054-46C0-8906-A8CD7F449C9B}" dt="2026-08-24T17:59:02.182" v="13"/>
          <ac:spMkLst>
            <pc:docMk/>
            <pc:sldMk cId="0" sldId="262"/>
            <ac:spMk id="6" creationId="{00000000-0000-0000-0000-000000000000}"/>
          </ac:spMkLst>
        </pc:spChg>
      </pc:sldChg>
      <pc:sldChg chg="modSp">
        <pc:chgData name="Khumbelo Mudau" userId="c943d205e6a111f9" providerId="LiveId" clId="{6D91ECA9-F054-46C0-8906-A8CD7F449C9B}" dt="2026-08-24T18:01:05.744" v="15" actId="20578"/>
        <pc:sldMkLst>
          <pc:docMk/>
          <pc:sldMk cId="0" sldId="264"/>
        </pc:sldMkLst>
        <pc:spChg chg="mod">
          <ac:chgData name="Khumbelo Mudau" userId="c943d205e6a111f9" providerId="LiveId" clId="{6D91ECA9-F054-46C0-8906-A8CD7F449C9B}" dt="2026-08-24T18:01:05.744" v="15" actId="20578"/>
          <ac:spMkLst>
            <pc:docMk/>
            <pc:sldMk cId="0" sldId="264"/>
            <ac:spMk id="6" creationId="{00000000-0000-0000-0000-000000000000}"/>
          </ac:spMkLst>
        </pc:spChg>
      </pc:sldChg>
      <pc:sldChg chg="modSp mod">
        <pc:chgData name="Khumbelo Mudau" userId="c943d205e6a111f9" providerId="LiveId" clId="{6D91ECA9-F054-46C0-8906-A8CD7F449C9B}" dt="2026-08-24T18:06:55.025" v="16" actId="1076"/>
        <pc:sldMkLst>
          <pc:docMk/>
          <pc:sldMk cId="0" sldId="265"/>
        </pc:sldMkLst>
        <pc:spChg chg="mod">
          <ac:chgData name="Khumbelo Mudau" userId="c943d205e6a111f9" providerId="LiveId" clId="{6D91ECA9-F054-46C0-8906-A8CD7F449C9B}" dt="2026-08-24T18:06:55.025" v="16" actId="1076"/>
          <ac:spMkLst>
            <pc:docMk/>
            <pc:sldMk cId="0" sldId="265"/>
            <ac:spMk id="5" creationId="{00000000-0000-0000-0000-000000000000}"/>
          </ac:spMkLst>
        </pc:spChg>
      </pc:sldChg>
      <pc:sldChg chg="modSp mod">
        <pc:chgData name="Khumbelo Mudau" userId="c943d205e6a111f9" providerId="LiveId" clId="{6D91ECA9-F054-46C0-8906-A8CD7F449C9B}" dt="2026-08-24T18:14:11.329" v="17" actId="1076"/>
        <pc:sldMkLst>
          <pc:docMk/>
          <pc:sldMk cId="0" sldId="267"/>
        </pc:sldMkLst>
        <pc:spChg chg="mod">
          <ac:chgData name="Khumbelo Mudau" userId="c943d205e6a111f9" providerId="LiveId" clId="{6D91ECA9-F054-46C0-8906-A8CD7F449C9B}" dt="2026-08-24T18:14:11.329" v="17" actId="1076"/>
          <ac:spMkLst>
            <pc:docMk/>
            <pc:sldMk cId="0" sldId="267"/>
            <ac:spMk id="1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3711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645920" y="4389120"/>
            <a:ext cx="3657600" cy="365760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•  DAY 1</a:t>
            </a:r>
            <a:endParaRPr lang="en-US" sz="140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Loops, Methods &amp; Reading Real Test Code</a:t>
            </a:r>
            <a:endParaRPr lang="en-US" sz="360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know Sequence, Variables, and Conditions.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4069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add two more, then read a real Selenium test.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4937760"/>
            <a:ext cx="7315200" cy="68580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493776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routine as last time: Predict → Run → Explain.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000232" y="6035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/>
          </a:p>
        </p:txBody>
      </p:sp>
      <p:sp>
        <p:nvSpPr>
          <p:cNvPr id="11" name="Text 9"/>
          <p:cNvSpPr/>
          <p:nvPr/>
        </p:nvSpPr>
        <p:spPr>
          <a:xfrm>
            <a:off x="640080" y="6263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BRIDGE FROM WEEK 5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ideas down, two to go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0"/>
          </a:xfrm>
          <a:prstGeom prst="line">
            <a:avLst/>
          </a:prstGeom>
          <a:noFill/>
          <a:ln w="19050">
            <a:solidFill>
              <a:srgbClr val="E3F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49240" cy="3108960"/>
          </a:xfrm>
          <a:prstGeom prst="roundRect">
            <a:avLst>
              <a:gd name="adj" fmla="val 3529"/>
            </a:avLst>
          </a:prstGeom>
          <a:solidFill>
            <a:srgbClr val="E3F2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KNOW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— steps in order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— labelled boxes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2519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— code that chooses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91072" y="2103120"/>
            <a:ext cx="5349240" cy="3108960"/>
          </a:xfrm>
          <a:prstGeom prst="roundRect">
            <a:avLst>
              <a:gd name="adj" fmla="val 3529"/>
            </a:avLst>
          </a:prstGeom>
          <a:solidFill>
            <a:srgbClr val="013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65392" y="2331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ADD</a:t>
            </a:r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6565392" y="28803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— repeat safely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65392" y="35661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— named mini-recipes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65392" y="429768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debugging basics and reading a real Selenium test.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rule as always: guess, try, explain. No shame in mistakes.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• DAY 1  |  Recap</a:t>
            </a:r>
            <a:endParaRPr lang="en-US" sz="900"/>
          </a:p>
        </p:txBody>
      </p:sp>
      <p:sp>
        <p:nvSpPr>
          <p:cNvPr id="17" name="Text 15"/>
          <p:cNvSpPr/>
          <p:nvPr/>
        </p:nvSpPr>
        <p:spPr>
          <a:xfrm>
            <a:off x="944575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900"/>
          </a:p>
        </p:txBody>
      </p:sp>
      <p:sp>
        <p:nvSpPr>
          <p:cNvPr id="18" name="Text 16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 4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loop repeats with a stopping rule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0"/>
          </a:xfrm>
          <a:prstGeom prst="line">
            <a:avLst/>
          </a:prstGeom>
          <a:noFill/>
          <a:ln w="19050">
            <a:solidFill>
              <a:srgbClr val="E3F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120640" cy="3108960"/>
          </a:xfrm>
          <a:prstGeom prst="roundRect">
            <a:avLst>
              <a:gd name="adj" fmla="val 2941"/>
            </a:avLst>
          </a:prstGeom>
          <a:solidFill>
            <a:srgbClr val="0E2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2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LOOP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4663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dirty="0" err="1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</a:t>
            </a:r>
            <a:r>
              <a:rPr lang="en-US" sz="125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("Attempt " + 1);</a:t>
            </a:r>
            <a:endParaRPr lang="en-US" sz="12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50" dirty="0" err="1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</a:t>
            </a:r>
            <a:r>
              <a:rPr lang="en-US" sz="125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("Attempt " + 2);</a:t>
            </a:r>
            <a:endParaRPr lang="en-US" sz="12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50" dirty="0" err="1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</a:t>
            </a:r>
            <a:r>
              <a:rPr lang="en-US" sz="125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("Attempt " + 3);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89320" y="2103120"/>
            <a:ext cx="5650992" cy="3108960"/>
          </a:xfrm>
          <a:prstGeom prst="roundRect">
            <a:avLst>
              <a:gd name="adj" fmla="val 2941"/>
            </a:avLst>
          </a:prstGeom>
          <a:solidFill>
            <a:srgbClr val="0E2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63640" y="2286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LOOP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6263640" y="2697480"/>
            <a:ext cx="5120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attempt = 1; attempt &lt;= 3; attempt++) {</a:t>
            </a:r>
            <a:endParaRPr lang="en-US" sz="12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50" dirty="0" err="1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</a:t>
            </a:r>
            <a:r>
              <a:rPr lang="en-US" sz="125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("Attempt " + attempt);</a:t>
            </a:r>
            <a:endParaRPr lang="en-US" sz="12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539496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E0F7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539496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1  •  continue while attempt ≤ 3  •  add 1 each time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• DAY 1  |  Loops</a:t>
            </a:r>
            <a:endParaRPr lang="en-US" sz="900"/>
          </a:p>
        </p:txBody>
      </p:sp>
      <p:sp>
        <p:nvSpPr>
          <p:cNvPr id="14" name="Text 12"/>
          <p:cNvSpPr/>
          <p:nvPr/>
        </p:nvSpPr>
        <p:spPr>
          <a:xfrm>
            <a:off x="944575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min</a:t>
            </a:r>
            <a:endParaRPr lang="en-US" sz="900"/>
          </a:p>
        </p:txBody>
      </p:sp>
      <p:sp>
        <p:nvSpPr>
          <p:cNvPr id="15" name="Text 13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PRACTICE — ROUND 1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 the repetitions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0"/>
          </a:xfrm>
          <a:prstGeom prst="line">
            <a:avLst/>
          </a:prstGeom>
          <a:noFill/>
          <a:ln w="19050">
            <a:solidFill>
              <a:srgbClr val="E3F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1091672" cy="2011680"/>
          </a:xfrm>
          <a:prstGeom prst="roundRect">
            <a:avLst>
              <a:gd name="adj" fmla="val 4545"/>
            </a:avLst>
          </a:prstGeom>
          <a:solidFill>
            <a:srgbClr val="0E2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attempt = 1; attempt &lt;= 2; attempt++) {</a:t>
            </a:r>
            <a:endParaRPr 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en-US" sz="160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System.out.println("Login attempt " + attempt);</a:t>
            </a:r>
            <a:endParaRPr 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en-US" sz="160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/>
          </a:p>
        </p:txBody>
      </p:sp>
      <p:sp>
        <p:nvSpPr>
          <p:cNvPr id="7" name="Shape 5"/>
          <p:cNvSpPr/>
          <p:nvPr/>
        </p:nvSpPr>
        <p:spPr>
          <a:xfrm>
            <a:off x="548640" y="4480560"/>
            <a:ext cx="11091672" cy="1280160"/>
          </a:xfrm>
          <a:prstGeom prst="roundRect">
            <a:avLst>
              <a:gd name="adj" fmla="val 8571"/>
            </a:avLst>
          </a:prstGeom>
          <a:solidFill>
            <a:srgbClr val="E3F2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44805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exact output lines. Then change 2 to 4 and predict again.</a:t>
            </a:r>
            <a:endParaRPr lang="en-US" sz="170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• DAY 1  |  Practice</a:t>
            </a:r>
            <a:endParaRPr lang="en-US" sz="900"/>
          </a:p>
        </p:txBody>
      </p:sp>
      <p:sp>
        <p:nvSpPr>
          <p:cNvPr id="10" name="Text 8"/>
          <p:cNvSpPr/>
          <p:nvPr/>
        </p:nvSpPr>
        <p:spPr>
          <a:xfrm>
            <a:off x="944575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</a:t>
            </a:r>
            <a:endParaRPr lang="en-US" sz="900"/>
          </a:p>
        </p:txBody>
      </p:sp>
      <p:sp>
        <p:nvSpPr>
          <p:cNvPr id="11" name="Text 9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PRACTICE — ROUND 2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the start, change the count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0"/>
          </a:xfrm>
          <a:prstGeom prst="line">
            <a:avLst/>
          </a:prstGeom>
          <a:noFill/>
          <a:ln w="19050">
            <a:solidFill>
              <a:srgbClr val="E3F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852160" cy="3200400"/>
          </a:xfrm>
          <a:prstGeom prst="roundRect">
            <a:avLst>
              <a:gd name="adj" fmla="val 2857"/>
            </a:avLst>
          </a:prstGeom>
          <a:solidFill>
            <a:srgbClr val="0E2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53949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</a:t>
            </a:r>
            <a:r>
              <a:rPr lang="en-US" sz="1500" dirty="0" err="1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50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0; </a:t>
            </a:r>
            <a:r>
              <a:rPr lang="en-US" sz="1500" dirty="0" err="1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50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3; </a:t>
            </a:r>
            <a:r>
              <a:rPr lang="en-US" sz="1500" dirty="0" err="1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50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++) {</a:t>
            </a:r>
            <a:endParaRPr lang="en-US" sz="15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 err="1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</a:t>
            </a:r>
            <a:r>
              <a:rPr lang="en-US" sz="150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("Row " + </a:t>
            </a:r>
            <a:r>
              <a:rPr lang="en-US" sz="1500" dirty="0" err="1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50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5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720840" y="2103120"/>
            <a:ext cx="4919472" cy="3200400"/>
          </a:xfrm>
          <a:prstGeom prst="roundRect">
            <a:avLst>
              <a:gd name="adj" fmla="val 3429"/>
            </a:avLst>
          </a:prstGeom>
          <a:solidFill>
            <a:srgbClr val="E0F7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995160" y="2423160"/>
            <a:ext cx="44805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Does it start at 0 or 1?
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How many times does it run?
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Make it print Row 1 through Row 5.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5486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count at 0 is common in code — and a frequent source of off-by-one mistakes. Noticing this now saves confusion later.</a:t>
            </a:r>
            <a:endParaRPr lang="en-US" sz="125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• DAY 1  |  Practice</a:t>
            </a:r>
            <a:endParaRPr lang="en-US" sz="900"/>
          </a:p>
        </p:txBody>
      </p:sp>
      <p:sp>
        <p:nvSpPr>
          <p:cNvPr id="11" name="Text 9"/>
          <p:cNvSpPr/>
          <p:nvPr/>
        </p:nvSpPr>
        <p:spPr>
          <a:xfrm>
            <a:off x="944575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/>
          </a:p>
        </p:txBody>
      </p:sp>
      <p:sp>
        <p:nvSpPr>
          <p:cNvPr id="12" name="Text 10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 5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method gives a mini-recipe a name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0"/>
          </a:xfrm>
          <a:prstGeom prst="line">
            <a:avLst/>
          </a:prstGeom>
          <a:noFill/>
          <a:ln w="19050">
            <a:solidFill>
              <a:srgbClr val="E3F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49240" cy="3108960"/>
          </a:xfrm>
          <a:prstGeom prst="roundRect">
            <a:avLst>
              <a:gd name="adj" fmla="val 2941"/>
            </a:avLst>
          </a:prstGeom>
          <a:solidFill>
            <a:srgbClr val="0E2B2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RECIPE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49377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void </a:t>
            </a:r>
            <a:r>
              <a:rPr lang="en-US" sz="1200" dirty="0" err="1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openLoginPage</a:t>
            </a:r>
            <a:r>
              <a:rPr lang="en-US" sz="120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 err="1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</a:t>
            </a:r>
            <a:r>
              <a:rPr lang="en-US" sz="120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("Open browser");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 err="1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</a:t>
            </a:r>
            <a:r>
              <a:rPr lang="en-US" sz="120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("Go to login");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2103120"/>
            <a:ext cx="5349240" cy="3108960"/>
          </a:xfrm>
          <a:prstGeom prst="roundRect">
            <a:avLst>
              <a:gd name="adj" fmla="val 2941"/>
            </a:avLst>
          </a:prstGeom>
          <a:solidFill>
            <a:srgbClr val="0E2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65392" y="2286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RECIPE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6565392" y="31089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openLoginPage</a:t>
            </a:r>
            <a:r>
              <a:rPr lang="en-US" sz="160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65392" y="411480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clear name → many reusable calls.</a:t>
            </a:r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• DAY 1  |  Methods</a:t>
            </a:r>
            <a:endParaRPr lang="en-US" sz="900"/>
          </a:p>
        </p:txBody>
      </p:sp>
      <p:sp>
        <p:nvSpPr>
          <p:cNvPr id="13" name="Text 11"/>
          <p:cNvSpPr/>
          <p:nvPr/>
        </p:nvSpPr>
        <p:spPr>
          <a:xfrm>
            <a:off x="944575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/>
          </a:p>
        </p:txBody>
      </p:sp>
      <p:sp>
        <p:nvSpPr>
          <p:cNvPr id="14" name="Text 12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PRACTICE — ROUND 1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Calling it twice runs it twice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0"/>
          </a:xfrm>
          <a:prstGeom prst="line">
            <a:avLst/>
          </a:prstGeom>
          <a:noFill/>
          <a:ln w="19050">
            <a:solidFill>
              <a:srgbClr val="E3F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21208" y="2240280"/>
            <a:ext cx="11091672" cy="2377440"/>
          </a:xfrm>
          <a:prstGeom prst="roundRect">
            <a:avLst>
              <a:gd name="adj" fmla="val 3846"/>
            </a:avLst>
          </a:prstGeom>
          <a:solidFill>
            <a:srgbClr val="0E2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void </a:t>
            </a:r>
            <a:r>
              <a:rPr lang="en-US" sz="1500" dirty="0" err="1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openLoginPage</a:t>
            </a:r>
            <a:r>
              <a:rPr lang="en-US" sz="150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 err="1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</a:t>
            </a:r>
            <a:r>
              <a:rPr lang="en-US" sz="150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("Open login page");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endParaRPr lang="en-US" sz="1500" dirty="0"/>
          </a:p>
          <a:p>
            <a:pPr>
              <a:lnSpc>
                <a:spcPct val="140000"/>
              </a:lnSpc>
            </a:pPr>
            <a:r>
              <a:rPr lang="en-US" sz="1500" dirty="0" err="1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openLoginPage</a:t>
            </a:r>
            <a:r>
              <a:rPr lang="en-US" sz="150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();// Open login page</a:t>
            </a:r>
            <a:endParaRPr lang="en-US" sz="1500" dirty="0"/>
          </a:p>
          <a:p>
            <a:pPr>
              <a:lnSpc>
                <a:spcPct val="140000"/>
              </a:lnSpc>
            </a:pPr>
            <a:r>
              <a:rPr lang="en-US" sz="1500" dirty="0" err="1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openLoginPage</a:t>
            </a:r>
            <a:r>
              <a:rPr lang="en-US" sz="150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();// Open login page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4800600"/>
            <a:ext cx="11091672" cy="960120"/>
          </a:xfrm>
          <a:prstGeom prst="roundRect">
            <a:avLst>
              <a:gd name="adj" fmla="val 11429"/>
            </a:avLst>
          </a:prstGeom>
          <a:solidFill>
            <a:srgbClr val="E3F2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480060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Predict: what prints, and how many times?</a:t>
            </a:r>
            <a:endParaRPr lang="en-US" sz="170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• DAY 1  |  Practice</a:t>
            </a:r>
            <a:endParaRPr lang="en-US" sz="900"/>
          </a:p>
        </p:txBody>
      </p:sp>
      <p:sp>
        <p:nvSpPr>
          <p:cNvPr id="10" name="Text 8"/>
          <p:cNvSpPr/>
          <p:nvPr/>
        </p:nvSpPr>
        <p:spPr>
          <a:xfrm>
            <a:off x="944575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</a:t>
            </a:r>
            <a:endParaRPr lang="en-US" sz="900"/>
          </a:p>
        </p:txBody>
      </p:sp>
      <p:sp>
        <p:nvSpPr>
          <p:cNvPr id="11" name="Text 9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PRACTICE — ROUND 2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Defining vs. calling — name it yourself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0"/>
          </a:xfrm>
          <a:prstGeom prst="line">
            <a:avLst/>
          </a:prstGeom>
          <a:noFill/>
          <a:ln w="19050">
            <a:solidFill>
              <a:srgbClr val="E3F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three QA actions. Write a short, clear method name for each — no code needed, just the name.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6766560" cy="685800"/>
          </a:xfrm>
          <a:prstGeom prst="roundRect">
            <a:avLst>
              <a:gd name="adj" fmla="val 10667"/>
            </a:avLst>
          </a:prstGeom>
          <a:solidFill>
            <a:srgbClr val="F4FAF9"/>
          </a:solidFill>
          <a:ln w="12700">
            <a:solidFill>
              <a:srgbClr val="E3F2F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username and password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611880"/>
            <a:ext cx="6766560" cy="685800"/>
          </a:xfrm>
          <a:prstGeom prst="roundRect">
            <a:avLst>
              <a:gd name="adj" fmla="val 10667"/>
            </a:avLst>
          </a:prstGeom>
          <a:solidFill>
            <a:srgbClr val="F4FAF9"/>
          </a:solidFill>
          <a:ln w="12700">
            <a:solidFill>
              <a:srgbClr val="E3F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3611880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checkout button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4480560"/>
            <a:ext cx="6766560" cy="685800"/>
          </a:xfrm>
          <a:prstGeom prst="roundRect">
            <a:avLst>
              <a:gd name="adj" fmla="val 10667"/>
            </a:avLst>
          </a:prstGeom>
          <a:solidFill>
            <a:srgbClr val="F4FAF9"/>
          </a:solidFill>
          <a:ln w="12700">
            <a:solidFill>
              <a:srgbClr val="E3F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4480560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that the page title matches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589520" y="2743200"/>
            <a:ext cx="4069080" cy="2514600"/>
          </a:xfrm>
          <a:prstGeom prst="roundRect">
            <a:avLst>
              <a:gd name="adj" fmla="val 4364"/>
            </a:avLst>
          </a:prstGeom>
          <a:solidFill>
            <a:srgbClr val="FDEE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86384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7863840" y="3337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1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enterCredentials()</a:t>
            </a:r>
            <a:endParaRPr lang="en-US" sz="1500"/>
          </a:p>
        </p:txBody>
      </p:sp>
      <p:sp>
        <p:nvSpPr>
          <p:cNvPr id="15" name="Text 13"/>
          <p:cNvSpPr/>
          <p:nvPr/>
        </p:nvSpPr>
        <p:spPr>
          <a:xfrm>
            <a:off x="7863840" y="393192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name describes the action, not the code inside it.</a:t>
            </a:r>
            <a:endParaRPr lang="en-US" sz="125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• DAY 1  |  Practice</a:t>
            </a:r>
            <a:endParaRPr lang="en-US" sz="900"/>
          </a:p>
        </p:txBody>
      </p:sp>
      <p:sp>
        <p:nvSpPr>
          <p:cNvPr id="17" name="Text 15"/>
          <p:cNvSpPr/>
          <p:nvPr/>
        </p:nvSpPr>
        <p:spPr>
          <a:xfrm>
            <a:off x="944575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/>
          </a:p>
        </p:txBody>
      </p:sp>
      <p:sp>
        <p:nvSpPr>
          <p:cNvPr id="18" name="Text 16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ALL FIVE BLOCKS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story, five ideas working together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0"/>
          </a:xfrm>
          <a:prstGeom prst="line">
            <a:avLst/>
          </a:prstGeom>
          <a:noFill/>
          <a:ln w="19050">
            <a:solidFill>
              <a:srgbClr val="E3F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6400800" cy="3383280"/>
          </a:xfrm>
          <a:prstGeom prst="roundRect">
            <a:avLst>
              <a:gd name="adj" fmla="val 2703"/>
            </a:avLst>
          </a:prstGeom>
          <a:solidFill>
            <a:srgbClr val="0E2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59436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void </a:t>
            </a:r>
            <a:r>
              <a:rPr lang="en-US" sz="1050" dirty="0" err="1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checkResult</a:t>
            </a:r>
            <a:r>
              <a:rPr lang="en-US" sz="105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(String </a:t>
            </a:r>
            <a:r>
              <a:rPr lang="en-US" sz="1050" dirty="0" err="1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pageTitle</a:t>
            </a:r>
            <a:r>
              <a:rPr lang="en-US" sz="105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</a:t>
            </a:r>
            <a:r>
              <a:rPr lang="en-US" sz="1050" dirty="0" err="1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pageTitle.equals</a:t>
            </a:r>
            <a:r>
              <a:rPr lang="en-US" sz="105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("Dashboard")) {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050" dirty="0" err="1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</a:t>
            </a:r>
            <a:r>
              <a:rPr lang="en-US" sz="105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("PASS");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else {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050" dirty="0" err="1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</a:t>
            </a:r>
            <a:r>
              <a:rPr lang="en-US" sz="105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("FAIL");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r>
              <a:rPr lang="en-US" sz="1050" dirty="0" err="1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pageTitle</a:t>
            </a:r>
            <a:r>
              <a:rPr lang="en-US" sz="105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"Dashboard";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attempt = 1; attempt &lt;= 2; attempt++) {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 err="1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</a:t>
            </a:r>
            <a:r>
              <a:rPr lang="en-US" sz="105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("Attempt " + attempt);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 err="1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checkResult</a:t>
            </a:r>
            <a:r>
              <a:rPr lang="en-US" sz="105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 err="1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pageTitle</a:t>
            </a:r>
            <a:r>
              <a:rPr lang="en-US" sz="105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086600" y="2057400"/>
            <a:ext cx="4553712" cy="3383280"/>
          </a:xfrm>
          <a:prstGeom prst="roundRect">
            <a:avLst>
              <a:gd name="adj" fmla="val 3243"/>
            </a:avLst>
          </a:prstGeom>
          <a:solidFill>
            <a:srgbClr val="F4FAF9"/>
          </a:solidFill>
          <a:ln w="12700">
            <a:solidFill>
              <a:srgbClr val="E3F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60920" y="2377440"/>
            <a:ext cx="40233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35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Name a check (Method)
</a:t>
            </a:r>
            <a:endParaRPr lang="en-US" sz="1350"/>
          </a:p>
          <a:p>
            <a:pPr marL="0" indent="0">
              <a:spcAft>
                <a:spcPts val="1000"/>
              </a:spcAft>
              <a:buNone/>
            </a:pPr>
            <a:r>
              <a:rPr lang="en-US" sz="135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Store a page title (Variable)
</a:t>
            </a:r>
            <a:endParaRPr lang="en-US" sz="1350"/>
          </a:p>
          <a:p>
            <a:pPr marL="0" indent="0">
              <a:spcAft>
                <a:spcPts val="1000"/>
              </a:spcAft>
              <a:buNone/>
            </a:pPr>
            <a:r>
              <a:rPr lang="en-US" sz="135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Repeat twice (Loop)
</a:t>
            </a:r>
            <a:endParaRPr lang="en-US" sz="1350"/>
          </a:p>
          <a:p>
            <a:pPr marL="0" indent="0">
              <a:spcAft>
                <a:spcPts val="1000"/>
              </a:spcAft>
              <a:buNone/>
            </a:pPr>
            <a:r>
              <a:rPr lang="en-US" sz="135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Print the attempt (Sequence)
</a:t>
            </a:r>
            <a:endParaRPr lang="en-US" sz="1350"/>
          </a:p>
          <a:p>
            <a:pPr marL="0" indent="0">
              <a:spcAft>
                <a:spcPts val="1000"/>
              </a:spcAft>
              <a:buNone/>
            </a:pPr>
            <a:r>
              <a:rPr lang="en-US" sz="135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Ask yes/no, print result (Condition)</a:t>
            </a:r>
            <a:endParaRPr lang="en-US" sz="135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• DAY 1  |  Combine</a:t>
            </a:r>
            <a:endParaRPr lang="en-US" sz="900"/>
          </a:p>
        </p:txBody>
      </p:sp>
      <p:sp>
        <p:nvSpPr>
          <p:cNvPr id="10" name="Text 8"/>
          <p:cNvSpPr/>
          <p:nvPr/>
        </p:nvSpPr>
        <p:spPr>
          <a:xfrm>
            <a:off x="944575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/>
          </a:p>
        </p:txBody>
      </p:sp>
      <p:sp>
        <p:nvSpPr>
          <p:cNvPr id="11" name="Text 9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FOUNDATIONS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Syntax errors break the language; logic errors break the idea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0"/>
          </a:xfrm>
          <a:prstGeom prst="line">
            <a:avLst/>
          </a:prstGeom>
          <a:noFill/>
          <a:ln w="19050">
            <a:solidFill>
              <a:srgbClr val="E3F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5236" y="2286000"/>
            <a:ext cx="5349240" cy="2926080"/>
          </a:xfrm>
          <a:prstGeom prst="roundRect">
            <a:avLst>
              <a:gd name="adj" fmla="val 3125"/>
            </a:avLst>
          </a:prstGeom>
          <a:solidFill>
            <a:srgbClr val="FBE7E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ERROR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1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browser = "Chrome"</a:t>
            </a:r>
            <a:endParaRPr lang="en-US" sz="1300" dirty="0"/>
          </a:p>
          <a:p>
            <a:pPr marL="0" indent="0">
              <a:buNone/>
            </a:pPr>
            <a:r>
              <a:rPr lang="en-US" sz="1300" dirty="0" err="1">
                <a:solidFill>
                  <a:srgbClr val="01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</a:t>
            </a:r>
            <a:r>
              <a:rPr lang="en-US" sz="1300" dirty="0">
                <a:solidFill>
                  <a:srgbClr val="01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(browser);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25196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A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cannot read the missing semicolon.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91072" y="2286000"/>
            <a:ext cx="5349240" cy="2926080"/>
          </a:xfrm>
          <a:prstGeom prst="roundRect">
            <a:avLst>
              <a:gd name="adj" fmla="val 3125"/>
            </a:avLst>
          </a:prstGeom>
          <a:solidFill>
            <a:srgbClr val="FDEE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65392" y="2468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ERROR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6565392" y="292608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1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r>
              <a:rPr lang="en-US" sz="1200" dirty="0" err="1">
                <a:solidFill>
                  <a:srgbClr val="01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expectedCode</a:t>
            </a:r>
            <a:r>
              <a:rPr lang="en-US" sz="1200" dirty="0">
                <a:solidFill>
                  <a:srgbClr val="01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404;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1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r>
              <a:rPr lang="en-US" sz="1200" dirty="0" err="1">
                <a:solidFill>
                  <a:srgbClr val="01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actualCode</a:t>
            </a:r>
            <a:r>
              <a:rPr lang="en-US" sz="1200" dirty="0">
                <a:solidFill>
                  <a:srgbClr val="01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200;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1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</a:t>
            </a:r>
            <a:r>
              <a:rPr lang="en-US" sz="1200" dirty="0" err="1">
                <a:solidFill>
                  <a:srgbClr val="01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actualCode</a:t>
            </a:r>
            <a:r>
              <a:rPr lang="en-US" sz="1200" dirty="0">
                <a:solidFill>
                  <a:srgbClr val="01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00" dirty="0" err="1">
                <a:solidFill>
                  <a:srgbClr val="01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expectedCode</a:t>
            </a:r>
            <a:r>
              <a:rPr lang="en-US" sz="1200" dirty="0">
                <a:solidFill>
                  <a:srgbClr val="01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65392" y="425196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8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runs, but the expected value is wrong.</a:t>
            </a:r>
            <a:endParaRPr lang="en-US" sz="125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• DAY 1  |  Debugging</a:t>
            </a:r>
            <a:endParaRPr lang="en-US" sz="900"/>
          </a:p>
        </p:txBody>
      </p:sp>
      <p:sp>
        <p:nvSpPr>
          <p:cNvPr id="14" name="Text 12"/>
          <p:cNvSpPr/>
          <p:nvPr/>
        </p:nvSpPr>
        <p:spPr>
          <a:xfrm>
            <a:off x="944575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</a:t>
            </a:r>
            <a:endParaRPr lang="en-US" sz="900"/>
          </a:p>
        </p:txBody>
      </p:sp>
      <p:sp>
        <p:nvSpPr>
          <p:cNvPr id="15" name="Text 13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CHALLENGE — INDIVIDUAL WORK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 one thing at a time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0"/>
          </a:xfrm>
          <a:prstGeom prst="line">
            <a:avLst/>
          </a:prstGeom>
          <a:noFill/>
          <a:ln w="19050">
            <a:solidFill>
              <a:srgbClr val="E3F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852160" cy="3291840"/>
          </a:xfrm>
          <a:prstGeom prst="roundRect">
            <a:avLst>
              <a:gd name="adj" fmla="val 2778"/>
            </a:avLst>
          </a:prstGeom>
          <a:solidFill>
            <a:srgbClr val="0E2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5394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r>
              <a:rPr lang="en-US" sz="1250" dirty="0" err="1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expectedTitle</a:t>
            </a:r>
            <a:r>
              <a:rPr lang="en-US" sz="125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"Dashboard"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r>
              <a:rPr lang="en-US" sz="1250" dirty="0" err="1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actualTitle</a:t>
            </a:r>
            <a:r>
              <a:rPr lang="en-US" sz="125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"Dashboard";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</a:t>
            </a:r>
            <a:r>
              <a:rPr lang="en-US" sz="1250" dirty="0" err="1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actualTitle.equals</a:t>
            </a:r>
            <a:r>
              <a:rPr lang="en-US" sz="125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</a:t>
            </a:r>
            <a:r>
              <a:rPr lang="en-US" sz="1250" dirty="0" err="1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Dashboad</a:t>
            </a:r>
            <a:r>
              <a:rPr lang="en-US" sz="125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")) {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50" dirty="0" err="1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</a:t>
            </a:r>
            <a:r>
              <a:rPr lang="en-US" sz="125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("PASS");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50" dirty="0" err="1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</a:t>
            </a:r>
            <a:r>
              <a:rPr lang="en-US" sz="125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("FAIL");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720840" y="2103120"/>
            <a:ext cx="4919472" cy="3291840"/>
          </a:xfrm>
          <a:prstGeom prst="roundRect">
            <a:avLst>
              <a:gd name="adj" fmla="val 3333"/>
            </a:avLst>
          </a:prstGeom>
          <a:solidFill>
            <a:srgbClr val="E0F7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995160" y="2468880"/>
            <a:ext cx="44805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800"/>
              </a:spcAft>
              <a:buNone/>
            </a:pPr>
            <a:r>
              <a:rPr lang="en-US" sz="160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Find the syntax error
</a:t>
            </a:r>
            <a:endParaRPr lang="en-US" sz="1600"/>
          </a:p>
          <a:p>
            <a:pPr marL="0" indent="0">
              <a:spcAft>
                <a:spcPts val="1800"/>
              </a:spcAft>
              <a:buNone/>
            </a:pPr>
            <a:r>
              <a:rPr lang="en-US" sz="160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Find the logic error
</a:t>
            </a:r>
            <a:endParaRPr lang="en-US" sz="1600"/>
          </a:p>
          <a:p>
            <a:pPr marL="0" indent="0">
              <a:spcAft>
                <a:spcPts val="1800"/>
              </a:spcAft>
              <a:buNone/>
            </a:pPr>
            <a:r>
              <a:rPr lang="en-US" sz="160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Explain the fixed output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548640" y="55321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this on your own — there's no single “fast” way to debug. Going slowly and checking one thing at a time is the professional way.</a:t>
            </a:r>
            <a:endParaRPr lang="en-US" sz="125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• DAY 1  |  Debug Challenge</a:t>
            </a:r>
            <a:endParaRPr lang="en-US" sz="900"/>
          </a:p>
        </p:txBody>
      </p:sp>
      <p:sp>
        <p:nvSpPr>
          <p:cNvPr id="11" name="Text 9"/>
          <p:cNvSpPr/>
          <p:nvPr/>
        </p:nvSpPr>
        <p:spPr>
          <a:xfrm>
            <a:off x="944575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</a:t>
            </a:r>
            <a:endParaRPr lang="en-US" sz="900"/>
          </a:p>
        </p:txBody>
      </p:sp>
      <p:sp>
        <p:nvSpPr>
          <p:cNvPr id="12" name="Text 10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PROGRAMMING TO QA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These five ideas already exist in Selenium tests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0"/>
          </a:xfrm>
          <a:prstGeom prst="line">
            <a:avLst/>
          </a:prstGeom>
          <a:noFill/>
          <a:ln w="19050">
            <a:solidFill>
              <a:srgbClr val="E3F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1091672" cy="502920"/>
          </a:xfrm>
          <a:prstGeom prst="roundRect">
            <a:avLst>
              <a:gd name="adj" fmla="val 10909"/>
            </a:avLst>
          </a:prstGeom>
          <a:solidFill>
            <a:srgbClr val="013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IDEA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4754880" y="21031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/ SELENIUM EXAMPLE</a:t>
            </a:r>
            <a:endParaRPr lang="en-US" sz="120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1091672" cy="566928"/>
          </a:xfrm>
          <a:prstGeom prst="rect">
            <a:avLst/>
          </a:prstGeom>
          <a:solidFill>
            <a:srgbClr val="F4FAF9"/>
          </a:solidFill>
          <a:ln w="9525">
            <a:solidFill>
              <a:srgbClr val="E3F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260604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2606040"/>
            <a:ext cx="6675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1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→ type → click → assert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172968"/>
            <a:ext cx="1109167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F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172968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4754880" y="3172968"/>
            <a:ext cx="6675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1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 a username or expected title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3739896"/>
            <a:ext cx="11091672" cy="566928"/>
          </a:xfrm>
          <a:prstGeom prst="rect">
            <a:avLst/>
          </a:prstGeom>
          <a:solidFill>
            <a:srgbClr val="F4FAF9"/>
          </a:solidFill>
          <a:ln w="9525">
            <a:solidFill>
              <a:srgbClr val="E3F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3739896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4754880" y="3739896"/>
            <a:ext cx="6675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1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Choose what to report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4306824"/>
            <a:ext cx="1109167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F2F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2960" y="4306824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endParaRPr lang="en-US" sz="1400"/>
          </a:p>
        </p:txBody>
      </p:sp>
      <p:sp>
        <p:nvSpPr>
          <p:cNvPr id="19" name="Text 17"/>
          <p:cNvSpPr/>
          <p:nvPr/>
        </p:nvSpPr>
        <p:spPr>
          <a:xfrm>
            <a:off x="4754880" y="4306824"/>
            <a:ext cx="6675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1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 several test-data rows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873752"/>
            <a:ext cx="11091672" cy="566928"/>
          </a:xfrm>
          <a:prstGeom prst="rect">
            <a:avLst/>
          </a:prstGeom>
          <a:solidFill>
            <a:srgbClr val="F4FAF9"/>
          </a:solidFill>
          <a:ln w="9525">
            <a:solidFill>
              <a:srgbClr val="E3F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2960" y="4873752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4754880" y="4873752"/>
            <a:ext cx="6675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 err="1">
                <a:solidFill>
                  <a:srgbClr val="01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loginAsValidUser</a:t>
            </a:r>
            <a:r>
              <a:rPr lang="en-US" sz="1350" dirty="0">
                <a:solidFill>
                  <a:srgbClr val="01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48640" y="5669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building blocks. This is everything a Selenium test is built from.</a:t>
            </a:r>
            <a:endParaRPr lang="en-US" sz="130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• DAY 1  |  QA Connection</a:t>
            </a:r>
            <a:endParaRPr lang="en-US" sz="900"/>
          </a:p>
        </p:txBody>
      </p:sp>
      <p:sp>
        <p:nvSpPr>
          <p:cNvPr id="25" name="Text 23"/>
          <p:cNvSpPr/>
          <p:nvPr/>
        </p:nvSpPr>
        <p:spPr>
          <a:xfrm>
            <a:off x="944575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</a:t>
            </a:r>
            <a:endParaRPr lang="en-US" sz="900"/>
          </a:p>
        </p:txBody>
      </p:sp>
      <p:sp>
        <p:nvSpPr>
          <p:cNvPr id="26" name="Text 24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CODE READING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already read a simple Selenium test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0"/>
          </a:xfrm>
          <a:prstGeom prst="line">
            <a:avLst/>
          </a:prstGeom>
          <a:noFill/>
          <a:ln w="19050">
            <a:solidFill>
              <a:srgbClr val="E3F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6309360" cy="3383280"/>
          </a:xfrm>
          <a:prstGeom prst="roundRect">
            <a:avLst>
              <a:gd name="adj" fmla="val 2703"/>
            </a:avLst>
          </a:prstGeom>
          <a:solidFill>
            <a:srgbClr val="0E2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58521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username = "learner";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 err="1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driver.get</a:t>
            </a:r>
            <a:r>
              <a:rPr lang="en-US" sz="115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("https://shopngo.co.za/login");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 err="1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driver.findElement</a:t>
            </a:r>
            <a:r>
              <a:rPr lang="en-US" sz="115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(By.id("username"))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</a:t>
            </a:r>
            <a:r>
              <a:rPr lang="en-US" sz="1150" dirty="0" err="1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sendKeys</a:t>
            </a:r>
            <a:r>
              <a:rPr lang="en-US" sz="115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(username);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 err="1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driver.findElement</a:t>
            </a:r>
            <a:r>
              <a:rPr lang="en-US" sz="115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(By.id("</a:t>
            </a:r>
            <a:r>
              <a:rPr lang="en-US" sz="1150" dirty="0" err="1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loginBtn</a:t>
            </a:r>
            <a:r>
              <a:rPr lang="en-US" sz="115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")).click();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title = </a:t>
            </a:r>
            <a:r>
              <a:rPr lang="en-US" sz="1150" dirty="0" err="1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driver.getTitle</a:t>
            </a:r>
            <a:r>
              <a:rPr lang="en-US" sz="1150" dirty="0">
                <a:solidFill>
                  <a:srgbClr val="E3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086600" y="2103120"/>
            <a:ext cx="4553712" cy="3383280"/>
          </a:xfrm>
          <a:prstGeom prst="roundRect">
            <a:avLst>
              <a:gd name="adj" fmla="val 3243"/>
            </a:avLst>
          </a:prstGeom>
          <a:solidFill>
            <a:srgbClr val="F4FAF9"/>
          </a:solidFill>
          <a:ln w="12700">
            <a:solidFill>
              <a:srgbClr val="E3F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60920" y="2331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Find: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7360920" y="2788920"/>
            <a:ext cx="40233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variables
</a:t>
            </a:r>
            <a:endParaRPr lang="en-US" sz="1500"/>
          </a:p>
          <a:p>
            <a:pPr marL="0" indent="0">
              <a:spcAft>
                <a:spcPts val="1200"/>
              </a:spcAft>
              <a:buNone/>
            </a:pPr>
            <a:r>
              <a:rPr lang="en-US" sz="150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sequence
</a:t>
            </a:r>
            <a:endParaRPr lang="en-US" sz="1500"/>
          </a:p>
          <a:p>
            <a:pPr marL="0" indent="0">
              <a:spcAft>
                <a:spcPts val="1200"/>
              </a:spcAft>
              <a:buNone/>
            </a:pPr>
            <a:r>
              <a:rPr lang="en-US" sz="150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method call
</a:t>
            </a:r>
            <a:endParaRPr lang="en-US" sz="1500"/>
          </a:p>
          <a:p>
            <a:pPr marL="0" indent="0">
              <a:spcAft>
                <a:spcPts val="1200"/>
              </a:spcAft>
              <a:buNone/>
            </a:pPr>
            <a:r>
              <a:rPr lang="en-US" sz="150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observed value</a:t>
            </a:r>
            <a:endParaRPr lang="en-US" sz="150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• DAY 1  |  Guided Reading</a:t>
            </a:r>
            <a:endParaRPr lang="en-US" sz="900"/>
          </a:p>
        </p:txBody>
      </p:sp>
      <p:sp>
        <p:nvSpPr>
          <p:cNvPr id="11" name="Text 9"/>
          <p:cNvSpPr/>
          <p:nvPr/>
        </p:nvSpPr>
        <p:spPr>
          <a:xfrm>
            <a:off x="944575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900"/>
          </a:p>
        </p:txBody>
      </p:sp>
      <p:sp>
        <p:nvSpPr>
          <p:cNvPr id="12" name="Text 10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CHECK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Checkpoint: explain all five, in your own words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0"/>
          </a:xfrm>
          <a:prstGeom prst="line">
            <a:avLst/>
          </a:prstGeom>
          <a:noFill/>
          <a:ln w="19050">
            <a:solidFill>
              <a:srgbClr val="E3F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1234440" y="205740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sequence matter?</a:t>
            </a:r>
            <a:endParaRPr lang="en-US" sz="160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1234440" y="274320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a variable store?</a:t>
            </a:r>
            <a:endParaRPr lang="en-US" sz="1600"/>
          </a:p>
        </p:txBody>
      </p:sp>
      <p:sp>
        <p:nvSpPr>
          <p:cNvPr id="11" name="Shape 9"/>
          <p:cNvSpPr/>
          <p:nvPr/>
        </p:nvSpPr>
        <p:spPr>
          <a:xfrm>
            <a:off x="548640" y="342900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1234440" y="342900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question does a condition ask?</a:t>
            </a:r>
            <a:endParaRPr lang="en-US" sz="160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1234440" y="411480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stops a loop?</a:t>
            </a:r>
            <a:endParaRPr lang="en-US" sz="1600"/>
          </a:p>
        </p:txBody>
      </p:sp>
      <p:sp>
        <p:nvSpPr>
          <p:cNvPr id="17" name="Shape 15"/>
          <p:cNvSpPr/>
          <p:nvPr/>
        </p:nvSpPr>
        <p:spPr>
          <a:xfrm>
            <a:off x="548640" y="480060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4800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/>
          </a:p>
        </p:txBody>
      </p:sp>
      <p:sp>
        <p:nvSpPr>
          <p:cNvPr id="19" name="Text 17"/>
          <p:cNvSpPr/>
          <p:nvPr/>
        </p:nvSpPr>
        <p:spPr>
          <a:xfrm>
            <a:off x="1234440" y="480060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difference between defining and calling a method?</a:t>
            </a:r>
            <a:endParaRPr lang="en-US" sz="160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• DAY 1  |  Exit Check</a:t>
            </a:r>
            <a:endParaRPr lang="en-US" sz="900"/>
          </a:p>
        </p:txBody>
      </p:sp>
      <p:sp>
        <p:nvSpPr>
          <p:cNvPr id="21" name="Text 19"/>
          <p:cNvSpPr/>
          <p:nvPr/>
        </p:nvSpPr>
        <p:spPr>
          <a:xfrm>
            <a:off x="944575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900"/>
          </a:p>
        </p:txBody>
      </p:sp>
      <p:sp>
        <p:nvSpPr>
          <p:cNvPr id="22" name="Text 20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LOOP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now know all five programming foundations</a:t>
            </a:r>
            <a:endParaRPr lang="en-US" sz="260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• Variables • Conditions • Loops • Methods</a:t>
            </a:r>
            <a:endParaRPr lang="en-US" sz="150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6400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names and values</a:t>
            </a:r>
            <a:endParaRPr lang="en-US" sz="15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top to bottom</a:t>
            </a:r>
            <a:endParaRPr lang="en-US" sz="15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repeat and the choice</a:t>
            </a:r>
            <a:endParaRPr lang="en-US" sz="15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→ Run → Explain</a:t>
            </a:r>
            <a:endParaRPr lang="en-US" sz="15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thing at a time</a:t>
            </a:r>
            <a:endParaRPr lang="en-US" sz="1500"/>
          </a:p>
        </p:txBody>
      </p:sp>
      <p:sp>
        <p:nvSpPr>
          <p:cNvPr id="7" name="Shape 5"/>
          <p:cNvSpPr/>
          <p:nvPr/>
        </p:nvSpPr>
        <p:spPr>
          <a:xfrm>
            <a:off x="7406640" y="2468880"/>
            <a:ext cx="4206240" cy="3200400"/>
          </a:xfrm>
          <a:prstGeom prst="roundRect">
            <a:avLst>
              <a:gd name="adj" fmla="val 3429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06640" y="2468880"/>
            <a:ext cx="42062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800" b="1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</a:t>
            </a:r>
            <a:endParaRPr lang="en-US" sz="280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2800" b="1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BEATS</a:t>
            </a:r>
            <a:endParaRPr lang="en-US" sz="280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2800" b="1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CLEVER</a:t>
            </a:r>
            <a:endParaRPr lang="en-US" sz="280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• DAY 1  |  Close</a:t>
            </a:r>
            <a:endParaRPr lang="en-US" sz="900"/>
          </a:p>
        </p:txBody>
      </p:sp>
      <p:sp>
        <p:nvSpPr>
          <p:cNvPr id="10" name="Text 8"/>
          <p:cNvSpPr/>
          <p:nvPr/>
        </p:nvSpPr>
        <p:spPr>
          <a:xfrm>
            <a:off x="944575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900"/>
          </a:p>
        </p:txBody>
      </p:sp>
      <p:sp>
        <p:nvSpPr>
          <p:cNvPr id="11" name="Text 9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 MINUTES AFTER CLASS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Homework: a method inside a loop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0"/>
          </a:xfrm>
          <a:prstGeom prst="line">
            <a:avLst/>
          </a:prstGeom>
          <a:noFill/>
          <a:ln w="19050">
            <a:solidFill>
              <a:srgbClr val="E3F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Java program that:</a:t>
            </a:r>
            <a:endParaRPr lang="en-US" sz="150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6675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expectedTitle and actualTitle</a:t>
            </a:r>
            <a:endParaRPr lang="en-US" sz="145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method checkTitle() that uses if/else to print PASS or FAIL</a:t>
            </a:r>
            <a:endParaRPr lang="en-US" sz="145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checkTitle() inside a loop that runs 3 times</a:t>
            </a:r>
            <a:endParaRPr lang="en-US" sz="145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the attempt number before each check</a:t>
            </a:r>
            <a:endParaRPr lang="en-US" sz="1450"/>
          </a:p>
        </p:txBody>
      </p:sp>
      <p:sp>
        <p:nvSpPr>
          <p:cNvPr id="7" name="Shape 5"/>
          <p:cNvSpPr/>
          <p:nvPr/>
        </p:nvSpPr>
        <p:spPr>
          <a:xfrm>
            <a:off x="7498080" y="1965960"/>
            <a:ext cx="4114800" cy="3108960"/>
          </a:xfrm>
          <a:prstGeom prst="roundRect">
            <a:avLst>
              <a:gd name="adj" fmla="val 3529"/>
            </a:avLst>
          </a:prstGeom>
          <a:solidFill>
            <a:srgbClr val="FDEE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0" y="2148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7772400" y="260604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screenshot of code
</a:t>
            </a:r>
            <a:endParaRPr lang="en-US" sz="1300"/>
          </a:p>
          <a:p>
            <a:pPr marL="0" indent="0">
              <a:spcAft>
                <a:spcPts val="800"/>
              </a:spcAft>
              <a:buNone/>
            </a:pPr>
            <a:r>
              <a:rPr lang="en-US" sz="130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screenshot of output
</a:t>
            </a:r>
            <a:endParaRPr lang="en-US" sz="1300"/>
          </a:p>
          <a:p>
            <a:pPr marL="0" indent="0">
              <a:spcAft>
                <a:spcPts val="800"/>
              </a:spcAft>
              <a:buNone/>
            </a:pPr>
            <a:r>
              <a:rPr lang="en-US" sz="130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sentences explaining:</a:t>
            </a:r>
            <a:endParaRPr lang="en-US" sz="1300"/>
          </a:p>
          <a:p>
            <a:pPr marL="0" indent="0">
              <a:spcAft>
                <a:spcPts val="800"/>
              </a:spcAft>
              <a:buNone/>
            </a:pPr>
            <a:r>
              <a:rPr lang="en-US" sz="130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 • the loop • the result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548640" y="525780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E0F7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52578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stretch:  </a:t>
            </a:r>
            <a:r>
              <a:rPr lang="en-US" sz="140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loop to run 5 times instead of 3.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• DAY 1  |  Homework</a:t>
            </a:r>
            <a:endParaRPr lang="en-US" sz="900"/>
          </a:p>
        </p:txBody>
      </p:sp>
      <p:sp>
        <p:nvSpPr>
          <p:cNvPr id="13" name="Text 11"/>
          <p:cNvSpPr/>
          <p:nvPr/>
        </p:nvSpPr>
        <p:spPr>
          <a:xfrm>
            <a:off x="944575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/>
          </a:p>
        </p:txBody>
      </p:sp>
      <p:sp>
        <p:nvSpPr>
          <p:cNvPr id="14" name="Text 12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1334</Words>
  <Application>Microsoft Office PowerPoint</Application>
  <PresentationFormat>Widescreen</PresentationFormat>
  <Paragraphs>244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Khumbelo Mudau</cp:lastModifiedBy>
  <cp:revision>1</cp:revision>
  <dcterms:created xsi:type="dcterms:W3CDTF">2026-08-23T14:54:49Z</dcterms:created>
  <dcterms:modified xsi:type="dcterms:W3CDTF">2026-08-24T18:16:15Z</dcterms:modified>
</cp:coreProperties>
</file>